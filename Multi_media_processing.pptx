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74" r:id="rId5"/>
    <p:sldId id="275" r:id="rId6"/>
    <p:sldId id="277" r:id="rId7"/>
    <p:sldId id="279" r:id="rId8"/>
    <p:sldId id="278" r:id="rId9"/>
  </p:sldIdLst>
  <p:sldSz cx="18288000" cy="10287000"/>
  <p:notesSz cx="6858000" cy="9144000"/>
  <p:embeddedFontLst>
    <p:embeddedFont>
      <p:font typeface="Arimo Bold" panose="020B0604020202020204" charset="0"/>
      <p:regular r:id="rId11"/>
    </p:embeddedFont>
    <p:embeddedFont>
      <p:font typeface="Cabin" panose="020B0604020202020204" charset="0"/>
      <p:regular r:id="rId12"/>
    </p:embeddedFont>
    <p:embeddedFont>
      <p:font typeface="Cabin Bold" panose="020B0604020202020204" charset="0"/>
      <p:regular r:id="rId13"/>
    </p:embeddedFont>
    <p:embeddedFont>
      <p:font typeface="Cambria Math" panose="02040503050406030204" pitchFamily="18" charset="0"/>
      <p:regular r:id="rId14"/>
    </p:embeddedFont>
    <p:embeddedFont>
      <p:font typeface="Canva Sans" panose="020B0604020202020204" charset="0"/>
      <p:regular r:id="rId15"/>
    </p:embeddedFont>
    <p:embeddedFont>
      <p:font typeface="Canva Sans Bold" panose="020B0604020202020204" charset="0"/>
      <p:regular r:id="rId16"/>
    </p:embeddedFont>
    <p:embeddedFont>
      <p:font typeface="Now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3633" autoAdjust="0"/>
  </p:normalViewPr>
  <p:slideViewPr>
    <p:cSldViewPr>
      <p:cViewPr varScale="1">
        <p:scale>
          <a:sx n="54" d="100"/>
          <a:sy n="54" d="100"/>
        </p:scale>
        <p:origin x="75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C913C-EA66-41FF-9906-78E2544D16F1}"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A0BB56-F836-42EC-B111-891D87DB9CAD}" type="slidenum">
              <a:rPr lang="en-US" smtClean="0"/>
              <a:t>‹#›</a:t>
            </a:fld>
            <a:endParaRPr lang="en-US"/>
          </a:p>
        </p:txBody>
      </p:sp>
    </p:spTree>
    <p:extLst>
      <p:ext uri="{BB962C8B-B14F-4D97-AF65-F5344CB8AC3E}">
        <p14:creationId xmlns:p14="http://schemas.microsoft.com/office/powerpoint/2010/main" val="1065266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6.svg"/><Relationship Id="rId7"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51963" y="880286"/>
            <a:ext cx="2071873" cy="2071873"/>
          </a:xfrm>
          <a:custGeom>
            <a:avLst/>
            <a:gdLst/>
            <a:ahLst/>
            <a:cxnLst/>
            <a:rect l="l" t="t" r="r" b="b"/>
            <a:pathLst>
              <a:path w="2071873" h="2071873">
                <a:moveTo>
                  <a:pt x="0" y="0"/>
                </a:moveTo>
                <a:lnTo>
                  <a:pt x="2071873" y="0"/>
                </a:lnTo>
                <a:lnTo>
                  <a:pt x="2071873" y="2071873"/>
                </a:lnTo>
                <a:lnTo>
                  <a:pt x="0" y="2071873"/>
                </a:lnTo>
                <a:lnTo>
                  <a:pt x="0" y="0"/>
                </a:lnTo>
                <a:close/>
              </a:path>
            </a:pathLst>
          </a:custGeom>
          <a:blipFill>
            <a:blip r:embed="rId2"/>
            <a:stretch>
              <a:fillRect r="-284615"/>
            </a:stretch>
          </a:blipFill>
        </p:spPr>
      </p:sp>
      <p:grpSp>
        <p:nvGrpSpPr>
          <p:cNvPr id="3" name="Group 3"/>
          <p:cNvGrpSpPr/>
          <p:nvPr/>
        </p:nvGrpSpPr>
        <p:grpSpPr>
          <a:xfrm>
            <a:off x="-881613" y="9525"/>
            <a:ext cx="20157533" cy="677436"/>
            <a:chOff x="0" y="0"/>
            <a:chExt cx="26876710" cy="903248"/>
          </a:xfrm>
        </p:grpSpPr>
        <p:grpSp>
          <p:nvGrpSpPr>
            <p:cNvPr id="4" name="Group 4"/>
            <p:cNvGrpSpPr/>
            <p:nvPr/>
          </p:nvGrpSpPr>
          <p:grpSpPr>
            <a:xfrm>
              <a:off x="0" y="0"/>
              <a:ext cx="17765768" cy="903248"/>
              <a:chOff x="0" y="0"/>
              <a:chExt cx="3509287" cy="178419"/>
            </a:xfrm>
          </p:grpSpPr>
          <p:sp>
            <p:nvSpPr>
              <p:cNvPr id="5" name="Freeform 5"/>
              <p:cNvSpPr/>
              <p:nvPr/>
            </p:nvSpPr>
            <p:spPr>
              <a:xfrm>
                <a:off x="0" y="0"/>
                <a:ext cx="3509287" cy="178419"/>
              </a:xfrm>
              <a:custGeom>
                <a:avLst/>
                <a:gdLst/>
                <a:ahLst/>
                <a:cxnLst/>
                <a:rect l="l" t="t" r="r" b="b"/>
                <a:pathLst>
                  <a:path w="3509287" h="178419">
                    <a:moveTo>
                      <a:pt x="203200" y="0"/>
                    </a:moveTo>
                    <a:lnTo>
                      <a:pt x="3509287" y="0"/>
                    </a:lnTo>
                    <a:lnTo>
                      <a:pt x="3306087" y="178419"/>
                    </a:lnTo>
                    <a:lnTo>
                      <a:pt x="0" y="178419"/>
                    </a:lnTo>
                    <a:lnTo>
                      <a:pt x="203200" y="0"/>
                    </a:lnTo>
                    <a:close/>
                  </a:path>
                </a:pathLst>
              </a:custGeom>
              <a:solidFill>
                <a:srgbClr val="0E6FC1"/>
              </a:solidFill>
            </p:spPr>
          </p:sp>
          <p:sp>
            <p:nvSpPr>
              <p:cNvPr id="6" name="TextBox 6"/>
              <p:cNvSpPr txBox="1"/>
              <p:nvPr/>
            </p:nvSpPr>
            <p:spPr>
              <a:xfrm>
                <a:off x="101600" y="-38100"/>
                <a:ext cx="3306087" cy="216519"/>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7158172" y="0"/>
              <a:ext cx="9718538" cy="903248"/>
              <a:chOff x="0" y="0"/>
              <a:chExt cx="1919711" cy="178419"/>
            </a:xfrm>
          </p:grpSpPr>
          <p:sp>
            <p:nvSpPr>
              <p:cNvPr id="8" name="Freeform 8"/>
              <p:cNvSpPr/>
              <p:nvPr/>
            </p:nvSpPr>
            <p:spPr>
              <a:xfrm>
                <a:off x="0" y="0"/>
                <a:ext cx="1919711" cy="178419"/>
              </a:xfrm>
              <a:custGeom>
                <a:avLst/>
                <a:gdLst/>
                <a:ahLst/>
                <a:cxnLst/>
                <a:rect l="l" t="t" r="r" b="b"/>
                <a:pathLst>
                  <a:path w="1919711" h="178419">
                    <a:moveTo>
                      <a:pt x="203200" y="0"/>
                    </a:moveTo>
                    <a:lnTo>
                      <a:pt x="1919711" y="0"/>
                    </a:lnTo>
                    <a:lnTo>
                      <a:pt x="1716511" y="178419"/>
                    </a:lnTo>
                    <a:lnTo>
                      <a:pt x="0" y="178419"/>
                    </a:lnTo>
                    <a:lnTo>
                      <a:pt x="203200" y="0"/>
                    </a:lnTo>
                    <a:close/>
                  </a:path>
                </a:pathLst>
              </a:custGeom>
              <a:solidFill>
                <a:srgbClr val="CFDDEC"/>
              </a:solidFill>
            </p:spPr>
          </p:sp>
          <p:sp>
            <p:nvSpPr>
              <p:cNvPr id="9" name="TextBox 9"/>
              <p:cNvSpPr txBox="1"/>
              <p:nvPr/>
            </p:nvSpPr>
            <p:spPr>
              <a:xfrm>
                <a:off x="101600" y="-38100"/>
                <a:ext cx="1716511" cy="216519"/>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0" name="Group 10"/>
          <p:cNvGrpSpPr/>
          <p:nvPr/>
        </p:nvGrpSpPr>
        <p:grpSpPr>
          <a:xfrm>
            <a:off x="-934766" y="9609564"/>
            <a:ext cx="20157533" cy="677436"/>
            <a:chOff x="0" y="0"/>
            <a:chExt cx="26876710" cy="903248"/>
          </a:xfrm>
        </p:grpSpPr>
        <p:grpSp>
          <p:nvGrpSpPr>
            <p:cNvPr id="11" name="Group 11"/>
            <p:cNvGrpSpPr/>
            <p:nvPr/>
          </p:nvGrpSpPr>
          <p:grpSpPr>
            <a:xfrm rot="-10800000">
              <a:off x="9110943" y="0"/>
              <a:ext cx="17765768" cy="903248"/>
              <a:chOff x="0" y="0"/>
              <a:chExt cx="3509287" cy="178419"/>
            </a:xfrm>
          </p:grpSpPr>
          <p:sp>
            <p:nvSpPr>
              <p:cNvPr id="12" name="Freeform 12"/>
              <p:cNvSpPr/>
              <p:nvPr/>
            </p:nvSpPr>
            <p:spPr>
              <a:xfrm>
                <a:off x="0" y="0"/>
                <a:ext cx="3509287" cy="178419"/>
              </a:xfrm>
              <a:custGeom>
                <a:avLst/>
                <a:gdLst/>
                <a:ahLst/>
                <a:cxnLst/>
                <a:rect l="l" t="t" r="r" b="b"/>
                <a:pathLst>
                  <a:path w="3509287" h="178419">
                    <a:moveTo>
                      <a:pt x="203200" y="0"/>
                    </a:moveTo>
                    <a:lnTo>
                      <a:pt x="3509287" y="0"/>
                    </a:lnTo>
                    <a:lnTo>
                      <a:pt x="3306087" y="178419"/>
                    </a:lnTo>
                    <a:lnTo>
                      <a:pt x="0" y="178419"/>
                    </a:lnTo>
                    <a:lnTo>
                      <a:pt x="203200" y="0"/>
                    </a:lnTo>
                    <a:close/>
                  </a:path>
                </a:pathLst>
              </a:custGeom>
              <a:solidFill>
                <a:srgbClr val="0E6FC1"/>
              </a:solidFill>
            </p:spPr>
          </p:sp>
          <p:sp>
            <p:nvSpPr>
              <p:cNvPr id="13" name="TextBox 13"/>
              <p:cNvSpPr txBox="1"/>
              <p:nvPr/>
            </p:nvSpPr>
            <p:spPr>
              <a:xfrm>
                <a:off x="101600" y="-38100"/>
                <a:ext cx="3306087" cy="216519"/>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10800000">
              <a:off x="0" y="0"/>
              <a:ext cx="9718538" cy="903248"/>
              <a:chOff x="0" y="0"/>
              <a:chExt cx="1919711" cy="178419"/>
            </a:xfrm>
          </p:grpSpPr>
          <p:sp>
            <p:nvSpPr>
              <p:cNvPr id="15" name="Freeform 15"/>
              <p:cNvSpPr/>
              <p:nvPr/>
            </p:nvSpPr>
            <p:spPr>
              <a:xfrm>
                <a:off x="0" y="0"/>
                <a:ext cx="1919711" cy="178419"/>
              </a:xfrm>
              <a:custGeom>
                <a:avLst/>
                <a:gdLst/>
                <a:ahLst/>
                <a:cxnLst/>
                <a:rect l="l" t="t" r="r" b="b"/>
                <a:pathLst>
                  <a:path w="1919711" h="178419">
                    <a:moveTo>
                      <a:pt x="203200" y="0"/>
                    </a:moveTo>
                    <a:lnTo>
                      <a:pt x="1919711" y="0"/>
                    </a:lnTo>
                    <a:lnTo>
                      <a:pt x="1716511" y="178419"/>
                    </a:lnTo>
                    <a:lnTo>
                      <a:pt x="0" y="178419"/>
                    </a:lnTo>
                    <a:lnTo>
                      <a:pt x="203200" y="0"/>
                    </a:lnTo>
                    <a:close/>
                  </a:path>
                </a:pathLst>
              </a:custGeom>
              <a:solidFill>
                <a:srgbClr val="CFDDEC"/>
              </a:solidFill>
            </p:spPr>
          </p:sp>
          <p:sp>
            <p:nvSpPr>
              <p:cNvPr id="16" name="TextBox 16"/>
              <p:cNvSpPr txBox="1"/>
              <p:nvPr/>
            </p:nvSpPr>
            <p:spPr>
              <a:xfrm>
                <a:off x="101600" y="-38100"/>
                <a:ext cx="1716511" cy="216519"/>
              </a:xfrm>
              <a:prstGeom prst="rect">
                <a:avLst/>
              </a:prstGeom>
            </p:spPr>
            <p:txBody>
              <a:bodyPr lIns="50800" tIns="50800" rIns="50800" bIns="50800" rtlCol="0" anchor="ctr"/>
              <a:lstStyle/>
              <a:p>
                <a:pPr algn="ctr">
                  <a:lnSpc>
                    <a:spcPts val="2659"/>
                  </a:lnSpc>
                  <a:spcBef>
                    <a:spcPct val="0"/>
                  </a:spcBef>
                </a:pPr>
                <a:endParaRPr/>
              </a:p>
            </p:txBody>
          </p:sp>
        </p:grpSp>
      </p:grpSp>
      <p:sp>
        <p:nvSpPr>
          <p:cNvPr id="17" name="TextBox 17"/>
          <p:cNvSpPr txBox="1"/>
          <p:nvPr/>
        </p:nvSpPr>
        <p:spPr>
          <a:xfrm>
            <a:off x="1899390" y="3747637"/>
            <a:ext cx="14489220" cy="5861926"/>
          </a:xfrm>
          <a:prstGeom prst="rect">
            <a:avLst/>
          </a:prstGeom>
        </p:spPr>
        <p:txBody>
          <a:bodyPr wrap="square" lIns="0" tIns="0" rIns="0" bIns="0" rtlCol="0" anchor="t">
            <a:spAutoFit/>
          </a:bodyPr>
          <a:lstStyle/>
          <a:p>
            <a:pPr algn="ctr">
              <a:lnSpc>
                <a:spcPts val="6579"/>
              </a:lnSpc>
            </a:pPr>
            <a:r>
              <a:rPr lang="vi-VN" sz="4699" b="1" dirty="0">
                <a:solidFill>
                  <a:srgbClr val="043F86"/>
                </a:solidFill>
                <a:latin typeface="Cabin Bold"/>
                <a:ea typeface="Cabin Bold"/>
                <a:cs typeface="Cabin Bold"/>
                <a:sym typeface="Cabin Bold"/>
              </a:rPr>
              <a:t>Kỹ thuật điều khiển tối ưu công suất và quỹ đạo của UAV trong hệ thống mạng (UAV assissted IoTs) nhằm tối ưu hóa hiệu năng và QoE của hệ thống sử dụng chuẩn nén SVC qua kênh CR-NOMA đường lên Uplink</a:t>
            </a:r>
          </a:p>
          <a:p>
            <a:pPr algn="ctr">
              <a:lnSpc>
                <a:spcPts val="6579"/>
              </a:lnSpc>
            </a:pPr>
            <a:endParaRPr lang="vi-VN" sz="4699" b="1" dirty="0">
              <a:solidFill>
                <a:srgbClr val="043F86"/>
              </a:solidFill>
              <a:latin typeface="Cabin Bold"/>
              <a:ea typeface="Cabin Bold"/>
              <a:cs typeface="Cabin Bold"/>
              <a:sym typeface="Cabin Bold"/>
            </a:endParaRPr>
          </a:p>
          <a:p>
            <a:pPr algn="ctr">
              <a:lnSpc>
                <a:spcPts val="6579"/>
              </a:lnSpc>
            </a:pPr>
            <a:endParaRPr lang="vi-VN" sz="4699" b="1" dirty="0">
              <a:solidFill>
                <a:srgbClr val="043F86"/>
              </a:solidFill>
              <a:latin typeface="Cabin Bold"/>
              <a:ea typeface="Cabin Bold"/>
              <a:cs typeface="Cabin Bold"/>
              <a:sym typeface="Cabin Bold"/>
            </a:endParaRPr>
          </a:p>
          <a:p>
            <a:pPr algn="ctr">
              <a:lnSpc>
                <a:spcPts val="6579"/>
              </a:lnSpc>
            </a:pPr>
            <a:endParaRPr lang="en-US" sz="4699" b="1" dirty="0">
              <a:solidFill>
                <a:srgbClr val="043F86"/>
              </a:solidFill>
              <a:latin typeface="Cabin Bold"/>
              <a:ea typeface="Cabin Bold"/>
              <a:cs typeface="Cabin Bold"/>
              <a:sym typeface="Cabin Bold"/>
            </a:endParaRPr>
          </a:p>
        </p:txBody>
      </p:sp>
      <p:sp>
        <p:nvSpPr>
          <p:cNvPr id="18" name="TextBox 18"/>
          <p:cNvSpPr txBox="1"/>
          <p:nvPr/>
        </p:nvSpPr>
        <p:spPr>
          <a:xfrm>
            <a:off x="4985427" y="7344366"/>
            <a:ext cx="8565314" cy="1684820"/>
          </a:xfrm>
          <a:prstGeom prst="rect">
            <a:avLst/>
          </a:prstGeom>
        </p:spPr>
        <p:txBody>
          <a:bodyPr lIns="0" tIns="0" rIns="0" bIns="0" rtlCol="0" anchor="t">
            <a:spAutoFit/>
          </a:bodyPr>
          <a:lstStyle/>
          <a:p>
            <a:pPr algn="l">
              <a:lnSpc>
                <a:spcPts val="4620"/>
              </a:lnSpc>
            </a:pPr>
            <a:r>
              <a:rPr lang="en-US" sz="3300" dirty="0">
                <a:solidFill>
                  <a:srgbClr val="043F86"/>
                </a:solidFill>
                <a:latin typeface="Canva Sans"/>
                <a:ea typeface="Canva Sans"/>
                <a:cs typeface="Canva Sans"/>
                <a:sym typeface="Canva Sans"/>
              </a:rPr>
              <a:t>       HVCH:</a:t>
            </a:r>
            <a:r>
              <a:rPr lang="vi-VN" sz="3300" dirty="0">
                <a:solidFill>
                  <a:srgbClr val="043F86"/>
                </a:solidFill>
                <a:latin typeface="Canva Sans"/>
                <a:ea typeface="Canva Sans"/>
                <a:cs typeface="Canva Sans"/>
                <a:sym typeface="Canva Sans"/>
              </a:rPr>
              <a:t> MAI HOÀNG TÙNG</a:t>
            </a:r>
          </a:p>
          <a:p>
            <a:pPr algn="l">
              <a:lnSpc>
                <a:spcPts val="4620"/>
              </a:lnSpc>
            </a:pPr>
            <a:endParaRPr lang="en-US" sz="3300" b="1" dirty="0">
              <a:solidFill>
                <a:srgbClr val="043F86"/>
              </a:solidFill>
              <a:latin typeface="Canva Sans Bold"/>
              <a:ea typeface="Canva Sans Bold"/>
              <a:cs typeface="Canva Sans Bold"/>
              <a:sym typeface="Canva Sans Bold"/>
            </a:endParaRPr>
          </a:p>
          <a:p>
            <a:pPr algn="l">
              <a:lnSpc>
                <a:spcPts val="4200"/>
              </a:lnSpc>
            </a:pPr>
            <a:r>
              <a:rPr lang="en-US" sz="3000" dirty="0" err="1">
                <a:solidFill>
                  <a:srgbClr val="043F86"/>
                </a:solidFill>
                <a:latin typeface="Canva Sans"/>
                <a:ea typeface="Canva Sans"/>
                <a:cs typeface="Canva Sans"/>
                <a:sym typeface="Canva Sans"/>
              </a:rPr>
              <a:t>Giảng</a:t>
            </a:r>
            <a:r>
              <a:rPr lang="en-US" sz="3000" dirty="0">
                <a:solidFill>
                  <a:srgbClr val="043F86"/>
                </a:solidFill>
                <a:latin typeface="Canva Sans"/>
                <a:ea typeface="Canva Sans"/>
                <a:cs typeface="Canva Sans"/>
                <a:sym typeface="Canva Sans"/>
              </a:rPr>
              <a:t> </a:t>
            </a:r>
            <a:r>
              <a:rPr lang="en-US" sz="3000" dirty="0" err="1">
                <a:solidFill>
                  <a:srgbClr val="043F86"/>
                </a:solidFill>
                <a:latin typeface="Canva Sans"/>
                <a:ea typeface="Canva Sans"/>
                <a:cs typeface="Canva Sans"/>
                <a:sym typeface="Canva Sans"/>
              </a:rPr>
              <a:t>viên</a:t>
            </a:r>
            <a:r>
              <a:rPr lang="en-US" sz="3000" dirty="0">
                <a:solidFill>
                  <a:srgbClr val="043F86"/>
                </a:solidFill>
                <a:latin typeface="Canva Sans"/>
                <a:ea typeface="Canva Sans"/>
                <a:cs typeface="Canva Sans"/>
                <a:sym typeface="Canva Sans"/>
              </a:rPr>
              <a:t> </a:t>
            </a:r>
            <a:r>
              <a:rPr lang="en-US" sz="3000" dirty="0" err="1">
                <a:solidFill>
                  <a:srgbClr val="043F86"/>
                </a:solidFill>
                <a:latin typeface="Canva Sans"/>
                <a:ea typeface="Canva Sans"/>
                <a:cs typeface="Canva Sans"/>
                <a:sym typeface="Canva Sans"/>
              </a:rPr>
              <a:t>bộ</a:t>
            </a:r>
            <a:r>
              <a:rPr lang="en-US" sz="3000" dirty="0">
                <a:solidFill>
                  <a:srgbClr val="043F86"/>
                </a:solidFill>
                <a:latin typeface="Canva Sans"/>
                <a:ea typeface="Canva Sans"/>
                <a:cs typeface="Canva Sans"/>
                <a:sym typeface="Canva Sans"/>
              </a:rPr>
              <a:t> </a:t>
            </a:r>
            <a:r>
              <a:rPr lang="en-US" sz="3000" dirty="0" err="1">
                <a:solidFill>
                  <a:srgbClr val="043F86"/>
                </a:solidFill>
                <a:latin typeface="Canva Sans"/>
                <a:ea typeface="Canva Sans"/>
                <a:cs typeface="Canva Sans"/>
                <a:sym typeface="Canva Sans"/>
              </a:rPr>
              <a:t>môn</a:t>
            </a:r>
            <a:r>
              <a:rPr lang="en-US" sz="3000" dirty="0">
                <a:solidFill>
                  <a:srgbClr val="043F86"/>
                </a:solidFill>
                <a:latin typeface="Canva Sans"/>
                <a:ea typeface="Canva Sans"/>
                <a:cs typeface="Canva Sans"/>
                <a:sym typeface="Canva Sans"/>
              </a:rPr>
              <a:t>: </a:t>
            </a:r>
            <a:r>
              <a:rPr lang="vi-VN" sz="3000" dirty="0">
                <a:solidFill>
                  <a:srgbClr val="043F86"/>
                </a:solidFill>
                <a:latin typeface="Canva Sans"/>
                <a:ea typeface="Canva Sans"/>
                <a:cs typeface="Canva Sans"/>
                <a:sym typeface="Canva Sans"/>
              </a:rPr>
              <a:t>TS. Đinh Triều Dương</a:t>
            </a:r>
            <a:endParaRPr lang="en-US" sz="3000" b="1" dirty="0">
              <a:solidFill>
                <a:srgbClr val="043F86"/>
              </a:solidFill>
              <a:latin typeface="Canva Sans Bold"/>
              <a:ea typeface="Canva Sans Bold"/>
              <a:cs typeface="Canva Sans Bold"/>
              <a:sym typeface="Canva Sans Bold"/>
            </a:endParaRPr>
          </a:p>
        </p:txBody>
      </p:sp>
      <p:sp>
        <p:nvSpPr>
          <p:cNvPr id="19" name="TextBox 19"/>
          <p:cNvSpPr txBox="1"/>
          <p:nvPr/>
        </p:nvSpPr>
        <p:spPr>
          <a:xfrm>
            <a:off x="17706558" y="9776137"/>
            <a:ext cx="152400" cy="209550"/>
          </a:xfrm>
          <a:prstGeom prst="rect">
            <a:avLst/>
          </a:prstGeom>
        </p:spPr>
        <p:txBody>
          <a:bodyPr wrap="none"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1</a:t>
            </a:r>
          </a:p>
        </p:txBody>
      </p:sp>
      <p:sp>
        <p:nvSpPr>
          <p:cNvPr id="20" name="TextBox 20"/>
          <p:cNvSpPr txBox="1"/>
          <p:nvPr/>
        </p:nvSpPr>
        <p:spPr>
          <a:xfrm>
            <a:off x="5936754" y="3180759"/>
            <a:ext cx="6414492" cy="537846"/>
          </a:xfrm>
          <a:prstGeom prst="rect">
            <a:avLst/>
          </a:prstGeom>
        </p:spPr>
        <p:txBody>
          <a:bodyPr lIns="0" tIns="0" rIns="0" bIns="0" rtlCol="0" anchor="t">
            <a:spAutoFit/>
          </a:bodyPr>
          <a:lstStyle/>
          <a:p>
            <a:pPr algn="ctr">
              <a:lnSpc>
                <a:spcPts val="4479"/>
              </a:lnSpc>
              <a:spcBef>
                <a:spcPct val="0"/>
              </a:spcBef>
            </a:pPr>
            <a:r>
              <a:rPr lang="en-US" sz="3199" b="1">
                <a:solidFill>
                  <a:srgbClr val="000000"/>
                </a:solidFill>
                <a:latin typeface="Canva Sans Bold"/>
                <a:ea typeface="Canva Sans Bold"/>
                <a:cs typeface="Canva Sans Bold"/>
                <a:sym typeface="Canva Sans Bold"/>
              </a:rPr>
              <a:t>Môn Xử Lý Tín Hiệu Số Nâng Cao</a:t>
            </a:r>
          </a:p>
        </p:txBody>
      </p:sp>
      <p:sp>
        <p:nvSpPr>
          <p:cNvPr id="21" name="TextBox 21"/>
          <p:cNvSpPr txBox="1"/>
          <p:nvPr/>
        </p:nvSpPr>
        <p:spPr>
          <a:xfrm>
            <a:off x="2113204" y="982067"/>
            <a:ext cx="14167898" cy="1658619"/>
          </a:xfrm>
          <a:prstGeom prst="rect">
            <a:avLst/>
          </a:prstGeom>
        </p:spPr>
        <p:txBody>
          <a:bodyPr lIns="0" tIns="0" rIns="0" bIns="0" rtlCol="0" anchor="t">
            <a:spAutoFit/>
          </a:bodyPr>
          <a:lstStyle/>
          <a:p>
            <a:pPr algn="ctr">
              <a:lnSpc>
                <a:spcPts val="4200"/>
              </a:lnSpc>
            </a:pPr>
            <a:r>
              <a:rPr lang="en-US" sz="3000">
                <a:solidFill>
                  <a:srgbClr val="043F86"/>
                </a:solidFill>
                <a:latin typeface="Cabin"/>
                <a:ea typeface="Cabin"/>
                <a:cs typeface="Cabin"/>
                <a:sym typeface="Cabin"/>
              </a:rPr>
              <a:t>ĐẠI HỌC QUỐC GIA HÀ NỘI</a:t>
            </a:r>
          </a:p>
          <a:p>
            <a:pPr algn="ctr">
              <a:lnSpc>
                <a:spcPts val="4900"/>
              </a:lnSpc>
            </a:pPr>
            <a:r>
              <a:rPr lang="en-US" sz="3500" b="1">
                <a:solidFill>
                  <a:srgbClr val="043F86"/>
                </a:solidFill>
                <a:latin typeface="Cabin Bold"/>
                <a:ea typeface="Cabin Bold"/>
                <a:cs typeface="Cabin Bold"/>
                <a:sym typeface="Cabin Bold"/>
              </a:rPr>
              <a:t>TRƯỜNG ĐẠI HỌC CÔNG NGHỆ</a:t>
            </a:r>
          </a:p>
          <a:p>
            <a:pPr algn="ctr">
              <a:lnSpc>
                <a:spcPts val="4060"/>
              </a:lnSpc>
            </a:pPr>
            <a:r>
              <a:rPr lang="en-US" sz="2900">
                <a:solidFill>
                  <a:srgbClr val="043F86"/>
                </a:solidFill>
                <a:latin typeface="Cabin"/>
                <a:ea typeface="Cabin"/>
                <a:cs typeface="Cabin"/>
                <a:sym typeface="Cabin"/>
              </a:rPr>
              <a:t>VNU University of Engineering and Technology</a:t>
            </a:r>
          </a:p>
        </p:txBody>
      </p:sp>
      <p:sp>
        <p:nvSpPr>
          <p:cNvPr id="22" name="Freeform 22"/>
          <p:cNvSpPr/>
          <p:nvPr/>
        </p:nvSpPr>
        <p:spPr>
          <a:xfrm>
            <a:off x="1316921" y="1252108"/>
            <a:ext cx="2688600" cy="1185211"/>
          </a:xfrm>
          <a:custGeom>
            <a:avLst/>
            <a:gdLst/>
            <a:ahLst/>
            <a:cxnLst/>
            <a:rect l="l" t="t" r="r" b="b"/>
            <a:pathLst>
              <a:path w="2688600" h="1185211">
                <a:moveTo>
                  <a:pt x="0" y="0"/>
                </a:moveTo>
                <a:lnTo>
                  <a:pt x="2688601" y="0"/>
                </a:lnTo>
                <a:lnTo>
                  <a:pt x="2688601" y="1185212"/>
                </a:lnTo>
                <a:lnTo>
                  <a:pt x="0" y="1185212"/>
                </a:lnTo>
                <a:lnTo>
                  <a:pt x="0" y="0"/>
                </a:lnTo>
                <a:close/>
              </a:path>
            </a:pathLst>
          </a:custGeom>
          <a:blipFill>
            <a:blip r:embed="rId3"/>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81613" y="-135136"/>
            <a:ext cx="20157533" cy="822097"/>
          </a:xfrm>
          <a:custGeom>
            <a:avLst/>
            <a:gdLst/>
            <a:ahLst/>
            <a:cxnLst/>
            <a:rect l="l" t="t" r="r" b="b"/>
            <a:pathLst>
              <a:path w="20157533" h="822097">
                <a:moveTo>
                  <a:pt x="0" y="0"/>
                </a:moveTo>
                <a:lnTo>
                  <a:pt x="20157533" y="0"/>
                </a:lnTo>
                <a:lnTo>
                  <a:pt x="20157533" y="822097"/>
                </a:lnTo>
                <a:lnTo>
                  <a:pt x="0" y="822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34766" y="9609564"/>
            <a:ext cx="20157534" cy="822097"/>
          </a:xfrm>
          <a:custGeom>
            <a:avLst/>
            <a:gdLst/>
            <a:ahLst/>
            <a:cxnLst/>
            <a:rect l="l" t="t" r="r" b="b"/>
            <a:pathLst>
              <a:path w="20157534" h="822097">
                <a:moveTo>
                  <a:pt x="0" y="0"/>
                </a:moveTo>
                <a:lnTo>
                  <a:pt x="20157534" y="0"/>
                </a:lnTo>
                <a:lnTo>
                  <a:pt x="20157534" y="822097"/>
                </a:lnTo>
                <a:lnTo>
                  <a:pt x="0" y="8220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888592" y="4225316"/>
            <a:ext cx="10617123" cy="900631"/>
          </a:xfrm>
          <a:prstGeom prst="rect">
            <a:avLst/>
          </a:prstGeom>
        </p:spPr>
        <p:txBody>
          <a:bodyPr lIns="0" tIns="0" rIns="0" bIns="0" rtlCol="0" anchor="t">
            <a:spAutoFit/>
          </a:bodyPr>
          <a:lstStyle/>
          <a:p>
            <a:pPr algn="ctr">
              <a:lnSpc>
                <a:spcPts val="7319"/>
              </a:lnSpc>
            </a:pPr>
            <a:r>
              <a:rPr lang="vi-VN" sz="5998" b="1" dirty="0">
                <a:solidFill>
                  <a:srgbClr val="043F86"/>
                </a:solidFill>
                <a:latin typeface="Canva Sans Bold"/>
                <a:ea typeface="Canva Sans Bold"/>
                <a:cs typeface="Canva Sans Bold"/>
                <a:sym typeface="Canva Sans Bold"/>
              </a:rPr>
              <a:t>Tổng quan bài toán</a:t>
            </a:r>
            <a:endParaRPr lang="en-US" sz="5998" b="1" dirty="0">
              <a:solidFill>
                <a:srgbClr val="043F86"/>
              </a:solidFill>
              <a:latin typeface="Canva Sans Bold"/>
              <a:ea typeface="Canva Sans Bold"/>
              <a:cs typeface="Canva Sans Bold"/>
              <a:sym typeface="Canva Sans Bold"/>
            </a:endParaRPr>
          </a:p>
        </p:txBody>
      </p:sp>
      <p:sp>
        <p:nvSpPr>
          <p:cNvPr id="5" name="Freeform 5"/>
          <p:cNvSpPr/>
          <p:nvPr/>
        </p:nvSpPr>
        <p:spPr>
          <a:xfrm>
            <a:off x="8510222" y="2491247"/>
            <a:ext cx="1267556" cy="1248880"/>
          </a:xfrm>
          <a:custGeom>
            <a:avLst/>
            <a:gdLst/>
            <a:ahLst/>
            <a:cxnLst/>
            <a:rect l="l" t="t" r="r" b="b"/>
            <a:pathLst>
              <a:path w="1267556" h="1248880">
                <a:moveTo>
                  <a:pt x="0" y="0"/>
                </a:moveTo>
                <a:lnTo>
                  <a:pt x="1267556" y="0"/>
                </a:lnTo>
                <a:lnTo>
                  <a:pt x="1267556" y="1248880"/>
                </a:lnTo>
                <a:lnTo>
                  <a:pt x="0" y="12488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8606610" y="2673112"/>
            <a:ext cx="1032377" cy="848313"/>
          </a:xfrm>
          <a:prstGeom prst="rect">
            <a:avLst/>
          </a:prstGeom>
        </p:spPr>
        <p:txBody>
          <a:bodyPr lIns="0" tIns="0" rIns="0" bIns="0" rtlCol="0" anchor="t">
            <a:spAutoFit/>
          </a:bodyPr>
          <a:lstStyle/>
          <a:p>
            <a:pPr algn="ctr">
              <a:lnSpc>
                <a:spcPts val="6813"/>
              </a:lnSpc>
            </a:pPr>
            <a:r>
              <a:rPr lang="en-US" sz="4866" b="1">
                <a:solidFill>
                  <a:srgbClr val="043F86">
                    <a:alpha val="82353"/>
                  </a:srgbClr>
                </a:solidFill>
                <a:latin typeface="Now Bold"/>
                <a:ea typeface="Now Bold"/>
                <a:cs typeface="Now Bold"/>
                <a:sym typeface="Now Bold"/>
              </a:rPr>
              <a:t>01</a:t>
            </a:r>
          </a:p>
        </p:txBody>
      </p:sp>
      <p:sp>
        <p:nvSpPr>
          <p:cNvPr id="7" name="TextBox 7"/>
          <p:cNvSpPr txBox="1"/>
          <p:nvPr/>
        </p:nvSpPr>
        <p:spPr>
          <a:xfrm>
            <a:off x="17706558" y="9776137"/>
            <a:ext cx="152400" cy="209550"/>
          </a:xfrm>
          <a:prstGeom prst="rect">
            <a:avLst/>
          </a:prstGeom>
        </p:spPr>
        <p:txBody>
          <a:bodyPr wrap="none"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Oval 80">
            <a:extLst>
              <a:ext uri="{FF2B5EF4-FFF2-40B4-BE49-F238E27FC236}">
                <a16:creationId xmlns:a16="http://schemas.microsoft.com/office/drawing/2014/main" id="{1CE63245-6896-80CF-1520-4C2A6CA446D1}"/>
              </a:ext>
            </a:extLst>
          </p:cNvPr>
          <p:cNvSpPr/>
          <p:nvPr/>
        </p:nvSpPr>
        <p:spPr>
          <a:xfrm rot="20876113">
            <a:off x="7715741" y="6082751"/>
            <a:ext cx="5925394" cy="3307002"/>
          </a:xfrm>
          <a:prstGeom prst="ellipse">
            <a:avLst/>
          </a:prstGeom>
          <a:ln>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Freeform 3"/>
          <p:cNvSpPr/>
          <p:nvPr/>
        </p:nvSpPr>
        <p:spPr>
          <a:xfrm>
            <a:off x="-934766" y="9609564"/>
            <a:ext cx="20157534" cy="822097"/>
          </a:xfrm>
          <a:custGeom>
            <a:avLst/>
            <a:gdLst/>
            <a:ahLst/>
            <a:cxnLst/>
            <a:rect l="l" t="t" r="r" b="b"/>
            <a:pathLst>
              <a:path w="20157534" h="822097">
                <a:moveTo>
                  <a:pt x="0" y="0"/>
                </a:moveTo>
                <a:lnTo>
                  <a:pt x="20157534" y="0"/>
                </a:lnTo>
                <a:lnTo>
                  <a:pt x="20157534" y="822097"/>
                </a:lnTo>
                <a:lnTo>
                  <a:pt x="0" y="822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0" y="1028700"/>
            <a:ext cx="11653664" cy="750197"/>
            <a:chOff x="0" y="0"/>
            <a:chExt cx="3069278" cy="197583"/>
          </a:xfrm>
        </p:grpSpPr>
        <p:sp>
          <p:nvSpPr>
            <p:cNvPr id="5" name="Freeform 5"/>
            <p:cNvSpPr/>
            <p:nvPr/>
          </p:nvSpPr>
          <p:spPr>
            <a:xfrm>
              <a:off x="0" y="0"/>
              <a:ext cx="3069278" cy="197583"/>
            </a:xfrm>
            <a:custGeom>
              <a:avLst/>
              <a:gdLst/>
              <a:ahLst/>
              <a:cxnLst/>
              <a:rect l="l" t="t" r="r" b="b"/>
              <a:pathLst>
                <a:path w="3069278" h="197583">
                  <a:moveTo>
                    <a:pt x="2866078" y="0"/>
                  </a:moveTo>
                  <a:lnTo>
                    <a:pt x="0" y="0"/>
                  </a:lnTo>
                  <a:lnTo>
                    <a:pt x="0" y="197583"/>
                  </a:lnTo>
                  <a:lnTo>
                    <a:pt x="2866078" y="197583"/>
                  </a:lnTo>
                  <a:lnTo>
                    <a:pt x="3069278" y="98791"/>
                  </a:lnTo>
                  <a:lnTo>
                    <a:pt x="2866078" y="0"/>
                  </a:lnTo>
                  <a:close/>
                </a:path>
              </a:pathLst>
            </a:custGeom>
            <a:solidFill>
              <a:srgbClr val="043F86"/>
            </a:solidFill>
          </p:spPr>
        </p:sp>
        <p:sp>
          <p:nvSpPr>
            <p:cNvPr id="6" name="TextBox 6"/>
            <p:cNvSpPr txBox="1"/>
            <p:nvPr/>
          </p:nvSpPr>
          <p:spPr>
            <a:xfrm>
              <a:off x="0" y="-38100"/>
              <a:ext cx="2954978" cy="235683"/>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520894" y="1075691"/>
            <a:ext cx="12036917" cy="587361"/>
          </a:xfrm>
          <a:prstGeom prst="rect">
            <a:avLst/>
          </a:prstGeom>
        </p:spPr>
        <p:txBody>
          <a:bodyPr lIns="0" tIns="0" rIns="0" bIns="0" rtlCol="0" anchor="t">
            <a:spAutoFit/>
          </a:bodyPr>
          <a:lstStyle/>
          <a:p>
            <a:pPr algn="just">
              <a:lnSpc>
                <a:spcPts val="4898"/>
              </a:lnSpc>
            </a:pPr>
            <a:r>
              <a:rPr lang="vi-VN" sz="3499" dirty="0">
                <a:solidFill>
                  <a:srgbClr val="FFFFFF"/>
                </a:solidFill>
                <a:latin typeface="Canva Sans"/>
                <a:ea typeface="Canva Sans"/>
                <a:cs typeface="Canva Sans"/>
                <a:sym typeface="Canva Sans"/>
              </a:rPr>
              <a:t>Tổng quan mô hình</a:t>
            </a:r>
            <a:endParaRPr lang="en-US" sz="3499" dirty="0">
              <a:solidFill>
                <a:srgbClr val="FFFFFF"/>
              </a:solidFill>
              <a:latin typeface="Canva Sans"/>
              <a:ea typeface="Canva Sans"/>
              <a:cs typeface="Canva Sans"/>
              <a:sym typeface="Canva Sans"/>
            </a:endParaRPr>
          </a:p>
        </p:txBody>
      </p:sp>
      <p:sp>
        <p:nvSpPr>
          <p:cNvPr id="9" name="TextBox 9"/>
          <p:cNvSpPr txBox="1"/>
          <p:nvPr/>
        </p:nvSpPr>
        <p:spPr>
          <a:xfrm>
            <a:off x="239974" y="131256"/>
            <a:ext cx="13364303" cy="683873"/>
          </a:xfrm>
          <a:prstGeom prst="rect">
            <a:avLst/>
          </a:prstGeom>
        </p:spPr>
        <p:txBody>
          <a:bodyPr lIns="0" tIns="0" rIns="0" bIns="0" rtlCol="0" anchor="t">
            <a:spAutoFit/>
          </a:bodyPr>
          <a:lstStyle/>
          <a:p>
            <a:pPr algn="l">
              <a:lnSpc>
                <a:spcPts val="5490"/>
              </a:lnSpc>
            </a:pPr>
            <a:r>
              <a:rPr lang="en-US" sz="4499" b="1">
                <a:solidFill>
                  <a:srgbClr val="FDFDFE"/>
                </a:solidFill>
                <a:latin typeface="Canva Sans Bold"/>
                <a:ea typeface="Canva Sans Bold"/>
                <a:cs typeface="Canva Sans Bold"/>
                <a:sym typeface="Canva Sans Bold"/>
              </a:rPr>
              <a:t>PHẦN I: ƯỚC LƯỢNG TRẠNG THÁI ROBOT</a:t>
            </a:r>
          </a:p>
        </p:txBody>
      </p:sp>
      <p:sp>
        <p:nvSpPr>
          <p:cNvPr id="10" name="TextBox 10"/>
          <p:cNvSpPr txBox="1"/>
          <p:nvPr/>
        </p:nvSpPr>
        <p:spPr>
          <a:xfrm>
            <a:off x="17706558" y="9776137"/>
            <a:ext cx="152400" cy="209550"/>
          </a:xfrm>
          <a:prstGeom prst="rect">
            <a:avLst/>
          </a:prstGeom>
        </p:spPr>
        <p:txBody>
          <a:bodyPr wrap="none"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3</a:t>
            </a:r>
          </a:p>
        </p:txBody>
      </p:sp>
      <p:sp>
        <p:nvSpPr>
          <p:cNvPr id="14" name="AutoShape 4" descr="Stockvector base station icon. Thin linear base station, station,  technology outline icon isolated on white background. Line vector base  station sign, symbol for web and mobile | Adobe Stock">
            <a:extLst>
              <a:ext uri="{FF2B5EF4-FFF2-40B4-BE49-F238E27FC236}">
                <a16:creationId xmlns:a16="http://schemas.microsoft.com/office/drawing/2014/main" id="{7A466EA3-93F0-B1EC-AA7B-D736F226B6AF}"/>
              </a:ext>
            </a:extLst>
          </p:cNvPr>
          <p:cNvSpPr>
            <a:spLocks noChangeAspect="1" noChangeArrowheads="1"/>
          </p:cNvSpPr>
          <p:nvPr/>
        </p:nvSpPr>
        <p:spPr bwMode="auto">
          <a:xfrm>
            <a:off x="8991600" y="4991100"/>
            <a:ext cx="2514600" cy="2514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 name="Picture 20">
            <a:extLst>
              <a:ext uri="{FF2B5EF4-FFF2-40B4-BE49-F238E27FC236}">
                <a16:creationId xmlns:a16="http://schemas.microsoft.com/office/drawing/2014/main" id="{78402405-DF92-AFB0-8538-885A244F8AB1}"/>
              </a:ext>
            </a:extLst>
          </p:cNvPr>
          <p:cNvPicPr>
            <a:picLocks noChangeAspect="1"/>
          </p:cNvPicPr>
          <p:nvPr/>
        </p:nvPicPr>
        <p:blipFill>
          <a:blip r:embed="rId4" cstate="print">
            <a:extLst>
              <a:ext uri="{28A0092B-C50C-407E-A947-70E740481C1C}">
                <a14:useLocalDpi xmlns:a14="http://schemas.microsoft.com/office/drawing/2010/main" val="0"/>
              </a:ext>
            </a:extLst>
          </a:blip>
          <a:srcRect l="26112" t="7575" r="26414" b="7476"/>
          <a:stretch>
            <a:fillRect/>
          </a:stretch>
        </p:blipFill>
        <p:spPr>
          <a:xfrm>
            <a:off x="6225888" y="5143500"/>
            <a:ext cx="1383675" cy="2475964"/>
          </a:xfrm>
          <a:prstGeom prst="rect">
            <a:avLst/>
          </a:prstGeom>
        </p:spPr>
      </p:pic>
      <p:cxnSp>
        <p:nvCxnSpPr>
          <p:cNvPr id="30" name="Straight Arrow Connector 29">
            <a:extLst>
              <a:ext uri="{FF2B5EF4-FFF2-40B4-BE49-F238E27FC236}">
                <a16:creationId xmlns:a16="http://schemas.microsoft.com/office/drawing/2014/main" id="{5F6C2221-769A-E879-4DF2-F3F249ACF5EF}"/>
              </a:ext>
            </a:extLst>
          </p:cNvPr>
          <p:cNvCxnSpPr>
            <a:cxnSpLocks/>
            <a:endCxn id="42" idx="1"/>
          </p:cNvCxnSpPr>
          <p:nvPr/>
        </p:nvCxnSpPr>
        <p:spPr>
          <a:xfrm>
            <a:off x="5446768" y="3273645"/>
            <a:ext cx="1094357" cy="2006553"/>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34" name="Straight Arrow Connector 33">
            <a:extLst>
              <a:ext uri="{FF2B5EF4-FFF2-40B4-BE49-F238E27FC236}">
                <a16:creationId xmlns:a16="http://schemas.microsoft.com/office/drawing/2014/main" id="{24BD1529-171C-1C28-22B5-37E10F415510}"/>
              </a:ext>
            </a:extLst>
          </p:cNvPr>
          <p:cNvCxnSpPr>
            <a:cxnSpLocks/>
          </p:cNvCxnSpPr>
          <p:nvPr/>
        </p:nvCxnSpPr>
        <p:spPr>
          <a:xfrm flipH="1" flipV="1">
            <a:off x="7303125" y="5904729"/>
            <a:ext cx="1688474" cy="155112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05053761-80E9-F213-DB0D-32A2BFBB1C02}"/>
              </a:ext>
            </a:extLst>
          </p:cNvPr>
          <p:cNvCxnSpPr>
            <a:cxnSpLocks/>
          </p:cNvCxnSpPr>
          <p:nvPr/>
        </p:nvCxnSpPr>
        <p:spPr>
          <a:xfrm flipH="1" flipV="1">
            <a:off x="7284361" y="5848376"/>
            <a:ext cx="4221839" cy="1681669"/>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nvGrpSpPr>
          <p:cNvPr id="63" name="Group 62">
            <a:extLst>
              <a:ext uri="{FF2B5EF4-FFF2-40B4-BE49-F238E27FC236}">
                <a16:creationId xmlns:a16="http://schemas.microsoft.com/office/drawing/2014/main" id="{1E1B2815-78D2-336C-E4C7-9F70A75CC889}"/>
              </a:ext>
            </a:extLst>
          </p:cNvPr>
          <p:cNvGrpSpPr/>
          <p:nvPr/>
        </p:nvGrpSpPr>
        <p:grpSpPr>
          <a:xfrm>
            <a:off x="11003640" y="6547713"/>
            <a:ext cx="1550833" cy="1848911"/>
            <a:chOff x="11219681" y="4922709"/>
            <a:chExt cx="1550833" cy="1848911"/>
          </a:xfrm>
        </p:grpSpPr>
        <p:pic>
          <p:nvPicPr>
            <p:cNvPr id="27" name="Picture 26">
              <a:extLst>
                <a:ext uri="{FF2B5EF4-FFF2-40B4-BE49-F238E27FC236}">
                  <a16:creationId xmlns:a16="http://schemas.microsoft.com/office/drawing/2014/main" id="{E8315C0B-FCD9-6F3D-DDA9-54F858F33B7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19681" y="4922709"/>
              <a:ext cx="1550833" cy="1550833"/>
            </a:xfrm>
            <a:prstGeom prst="rect">
              <a:avLst/>
            </a:prstGeom>
          </p:spPr>
        </p:pic>
        <p:sp>
          <p:nvSpPr>
            <p:cNvPr id="40" name="TextBox 39">
              <a:extLst>
                <a:ext uri="{FF2B5EF4-FFF2-40B4-BE49-F238E27FC236}">
                  <a16:creationId xmlns:a16="http://schemas.microsoft.com/office/drawing/2014/main" id="{776A954A-FB9A-DCD1-775E-1A9E73880599}"/>
                </a:ext>
              </a:extLst>
            </p:cNvPr>
            <p:cNvSpPr txBox="1"/>
            <p:nvPr/>
          </p:nvSpPr>
          <p:spPr>
            <a:xfrm>
              <a:off x="11722241" y="6248400"/>
              <a:ext cx="762000" cy="523220"/>
            </a:xfrm>
            <a:prstGeom prst="rect">
              <a:avLst/>
            </a:prstGeom>
            <a:noFill/>
          </p:spPr>
          <p:txBody>
            <a:bodyPr wrap="square" rtlCol="0">
              <a:spAutoFit/>
            </a:bodyPr>
            <a:lstStyle/>
            <a:p>
              <a:r>
                <a:rPr lang="vi-VN" sz="2800" b="1" dirty="0"/>
                <a:t>u1</a:t>
              </a:r>
              <a:endParaRPr lang="en-US" sz="2800" b="1" dirty="0"/>
            </a:p>
          </p:txBody>
        </p:sp>
      </p:grpSp>
      <p:grpSp>
        <p:nvGrpSpPr>
          <p:cNvPr id="62" name="Group 61">
            <a:extLst>
              <a:ext uri="{FF2B5EF4-FFF2-40B4-BE49-F238E27FC236}">
                <a16:creationId xmlns:a16="http://schemas.microsoft.com/office/drawing/2014/main" id="{B2DB6935-9AD1-329C-6A3C-A8B92A365A03}"/>
              </a:ext>
            </a:extLst>
          </p:cNvPr>
          <p:cNvGrpSpPr/>
          <p:nvPr/>
        </p:nvGrpSpPr>
        <p:grpSpPr>
          <a:xfrm>
            <a:off x="8371565" y="7455853"/>
            <a:ext cx="1246218" cy="1539381"/>
            <a:chOff x="8199257" y="7196619"/>
            <a:chExt cx="1394688" cy="1571850"/>
          </a:xfrm>
        </p:grpSpPr>
        <p:pic>
          <p:nvPicPr>
            <p:cNvPr id="28" name="Picture 27">
              <a:extLst>
                <a:ext uri="{FF2B5EF4-FFF2-40B4-BE49-F238E27FC236}">
                  <a16:creationId xmlns:a16="http://schemas.microsoft.com/office/drawing/2014/main" id="{8123CE9E-C0C7-8B9E-AF14-0DE728B6F39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99257" y="7196619"/>
              <a:ext cx="1394688" cy="1394688"/>
            </a:xfrm>
            <a:prstGeom prst="rect">
              <a:avLst/>
            </a:prstGeom>
          </p:spPr>
        </p:pic>
        <p:sp>
          <p:nvSpPr>
            <p:cNvPr id="41" name="TextBox 40">
              <a:extLst>
                <a:ext uri="{FF2B5EF4-FFF2-40B4-BE49-F238E27FC236}">
                  <a16:creationId xmlns:a16="http://schemas.microsoft.com/office/drawing/2014/main" id="{75C18D58-9B8A-2554-7B78-34F942C0783D}"/>
                </a:ext>
              </a:extLst>
            </p:cNvPr>
            <p:cNvSpPr txBox="1"/>
            <p:nvPr/>
          </p:nvSpPr>
          <p:spPr>
            <a:xfrm>
              <a:off x="8610600" y="8245249"/>
              <a:ext cx="762000" cy="523220"/>
            </a:xfrm>
            <a:prstGeom prst="rect">
              <a:avLst/>
            </a:prstGeom>
            <a:noFill/>
          </p:spPr>
          <p:txBody>
            <a:bodyPr wrap="square" rtlCol="0">
              <a:spAutoFit/>
            </a:bodyPr>
            <a:lstStyle/>
            <a:p>
              <a:r>
                <a:rPr lang="vi-VN" sz="2800" b="1" dirty="0"/>
                <a:t>u2</a:t>
              </a:r>
              <a:endParaRPr lang="en-US" sz="2800" b="1" dirty="0"/>
            </a:p>
          </p:txBody>
        </p:sp>
      </p:grpSp>
      <p:sp>
        <p:nvSpPr>
          <p:cNvPr id="42" name="TextBox 41">
            <a:extLst>
              <a:ext uri="{FF2B5EF4-FFF2-40B4-BE49-F238E27FC236}">
                <a16:creationId xmlns:a16="http://schemas.microsoft.com/office/drawing/2014/main" id="{E3C0A083-AF4D-D135-8DEA-D188E45F4757}"/>
              </a:ext>
            </a:extLst>
          </p:cNvPr>
          <p:cNvSpPr txBox="1"/>
          <p:nvPr/>
        </p:nvSpPr>
        <p:spPr>
          <a:xfrm>
            <a:off x="6541125" y="5018588"/>
            <a:ext cx="762000" cy="523220"/>
          </a:xfrm>
          <a:prstGeom prst="rect">
            <a:avLst/>
          </a:prstGeom>
          <a:noFill/>
        </p:spPr>
        <p:txBody>
          <a:bodyPr wrap="square" rtlCol="0">
            <a:spAutoFit/>
          </a:bodyPr>
          <a:lstStyle/>
          <a:p>
            <a:r>
              <a:rPr lang="vi-VN" sz="2800" b="1" dirty="0"/>
              <a:t>BS</a:t>
            </a:r>
            <a:endParaRPr lang="en-US" sz="2800" b="1" dirty="0"/>
          </a:p>
        </p:txBody>
      </p:sp>
      <p:cxnSp>
        <p:nvCxnSpPr>
          <p:cNvPr id="45" name="Straight Arrow Connector 44">
            <a:extLst>
              <a:ext uri="{FF2B5EF4-FFF2-40B4-BE49-F238E27FC236}">
                <a16:creationId xmlns:a16="http://schemas.microsoft.com/office/drawing/2014/main" id="{861F5E16-3FDE-A01F-B8DB-E494D9B004E4}"/>
              </a:ext>
            </a:extLst>
          </p:cNvPr>
          <p:cNvCxnSpPr>
            <a:cxnSpLocks/>
          </p:cNvCxnSpPr>
          <p:nvPr/>
        </p:nvCxnSpPr>
        <p:spPr>
          <a:xfrm>
            <a:off x="3505200" y="5905500"/>
            <a:ext cx="12344400" cy="92303"/>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4F5E23F-D089-836C-4F2C-A6A97FEF82DF}"/>
              </a:ext>
            </a:extLst>
          </p:cNvPr>
          <p:cNvCxnSpPr>
            <a:cxnSpLocks/>
          </p:cNvCxnSpPr>
          <p:nvPr/>
        </p:nvCxnSpPr>
        <p:spPr>
          <a:xfrm flipH="1">
            <a:off x="2209800" y="5905500"/>
            <a:ext cx="1295400" cy="3497461"/>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B7FF841-56C8-EEBC-A5EA-72214CF3AB45}"/>
              </a:ext>
            </a:extLst>
          </p:cNvPr>
          <p:cNvCxnSpPr>
            <a:cxnSpLocks/>
          </p:cNvCxnSpPr>
          <p:nvPr/>
        </p:nvCxnSpPr>
        <p:spPr>
          <a:xfrm flipV="1">
            <a:off x="3505200" y="2078593"/>
            <a:ext cx="0" cy="382690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DC7AAF79-4D39-CE66-94A4-C1C21801C65F}"/>
              </a:ext>
            </a:extLst>
          </p:cNvPr>
          <p:cNvSpPr txBox="1"/>
          <p:nvPr/>
        </p:nvSpPr>
        <p:spPr>
          <a:xfrm>
            <a:off x="2959241" y="5527233"/>
            <a:ext cx="762000" cy="523220"/>
          </a:xfrm>
          <a:prstGeom prst="rect">
            <a:avLst/>
          </a:prstGeom>
          <a:noFill/>
        </p:spPr>
        <p:txBody>
          <a:bodyPr wrap="square" rtlCol="0">
            <a:spAutoFit/>
          </a:bodyPr>
          <a:lstStyle/>
          <a:p>
            <a:r>
              <a:rPr lang="vi-VN" sz="2800" dirty="0"/>
              <a:t>O</a:t>
            </a:r>
            <a:endParaRPr lang="en-US" sz="2800" dirty="0"/>
          </a:p>
        </p:txBody>
      </p:sp>
      <p:sp>
        <p:nvSpPr>
          <p:cNvPr id="58" name="TextBox 57">
            <a:extLst>
              <a:ext uri="{FF2B5EF4-FFF2-40B4-BE49-F238E27FC236}">
                <a16:creationId xmlns:a16="http://schemas.microsoft.com/office/drawing/2014/main" id="{456C6E91-00F5-B7F5-E8EC-0DE06C462B5E}"/>
              </a:ext>
            </a:extLst>
          </p:cNvPr>
          <p:cNvSpPr txBox="1"/>
          <p:nvPr/>
        </p:nvSpPr>
        <p:spPr>
          <a:xfrm>
            <a:off x="2476500" y="8909182"/>
            <a:ext cx="762000" cy="523220"/>
          </a:xfrm>
          <a:prstGeom prst="rect">
            <a:avLst/>
          </a:prstGeom>
          <a:noFill/>
        </p:spPr>
        <p:txBody>
          <a:bodyPr wrap="square" rtlCol="0">
            <a:spAutoFit/>
          </a:bodyPr>
          <a:lstStyle/>
          <a:p>
            <a:r>
              <a:rPr lang="vi-VN" sz="2800" dirty="0"/>
              <a:t>y</a:t>
            </a:r>
            <a:endParaRPr lang="en-US" sz="2800" dirty="0"/>
          </a:p>
        </p:txBody>
      </p:sp>
      <p:sp>
        <p:nvSpPr>
          <p:cNvPr id="59" name="TextBox 58">
            <a:extLst>
              <a:ext uri="{FF2B5EF4-FFF2-40B4-BE49-F238E27FC236}">
                <a16:creationId xmlns:a16="http://schemas.microsoft.com/office/drawing/2014/main" id="{623393BB-D206-77A5-A8A0-9B32094D4013}"/>
              </a:ext>
            </a:extLst>
          </p:cNvPr>
          <p:cNvSpPr txBox="1"/>
          <p:nvPr/>
        </p:nvSpPr>
        <p:spPr>
          <a:xfrm>
            <a:off x="15392400" y="5997803"/>
            <a:ext cx="762000" cy="523220"/>
          </a:xfrm>
          <a:prstGeom prst="rect">
            <a:avLst/>
          </a:prstGeom>
          <a:noFill/>
        </p:spPr>
        <p:txBody>
          <a:bodyPr wrap="square" rtlCol="0">
            <a:spAutoFit/>
          </a:bodyPr>
          <a:lstStyle/>
          <a:p>
            <a:r>
              <a:rPr lang="vi-VN" sz="2800" dirty="0"/>
              <a:t>x</a:t>
            </a:r>
            <a:endParaRPr lang="en-US" sz="2800" dirty="0"/>
          </a:p>
        </p:txBody>
      </p:sp>
      <p:grpSp>
        <p:nvGrpSpPr>
          <p:cNvPr id="88" name="Group 87">
            <a:extLst>
              <a:ext uri="{FF2B5EF4-FFF2-40B4-BE49-F238E27FC236}">
                <a16:creationId xmlns:a16="http://schemas.microsoft.com/office/drawing/2014/main" id="{630F9C27-BA93-B207-EB2D-651CCD9C9D28}"/>
              </a:ext>
            </a:extLst>
          </p:cNvPr>
          <p:cNvGrpSpPr/>
          <p:nvPr/>
        </p:nvGrpSpPr>
        <p:grpSpPr>
          <a:xfrm>
            <a:off x="3503433" y="1933090"/>
            <a:ext cx="3780928" cy="1752360"/>
            <a:chOff x="3077072" y="1935318"/>
            <a:chExt cx="3780928" cy="1752360"/>
          </a:xfrm>
        </p:grpSpPr>
        <p:sp>
          <p:nvSpPr>
            <p:cNvPr id="69" name="Oval 68">
              <a:extLst>
                <a:ext uri="{FF2B5EF4-FFF2-40B4-BE49-F238E27FC236}">
                  <a16:creationId xmlns:a16="http://schemas.microsoft.com/office/drawing/2014/main" id="{4F924093-EF9D-F907-A63B-881D01D0B24E}"/>
                </a:ext>
              </a:extLst>
            </p:cNvPr>
            <p:cNvSpPr/>
            <p:nvPr/>
          </p:nvSpPr>
          <p:spPr>
            <a:xfrm>
              <a:off x="3340241" y="1935318"/>
              <a:ext cx="3517759" cy="1752360"/>
            </a:xfrm>
            <a:prstGeom prst="ellipse">
              <a:avLst/>
            </a:prstGeom>
            <a:ln>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5" name="Picture 24">
              <a:extLst>
                <a:ext uri="{FF2B5EF4-FFF2-40B4-BE49-F238E27FC236}">
                  <a16:creationId xmlns:a16="http://schemas.microsoft.com/office/drawing/2014/main" id="{E77C15A6-FA03-7914-0DAF-0A91801D2F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8907" y="2165469"/>
              <a:ext cx="1845556" cy="1306405"/>
            </a:xfrm>
            <a:prstGeom prst="rect">
              <a:avLst/>
            </a:prstGeom>
          </p:spPr>
        </p:pic>
        <p:sp>
          <p:nvSpPr>
            <p:cNvPr id="43" name="TextBox 42">
              <a:extLst>
                <a:ext uri="{FF2B5EF4-FFF2-40B4-BE49-F238E27FC236}">
                  <a16:creationId xmlns:a16="http://schemas.microsoft.com/office/drawing/2014/main" id="{38872EED-EF9F-ADFD-8EA8-4F769F3F99AF}"/>
                </a:ext>
              </a:extLst>
            </p:cNvPr>
            <p:cNvSpPr txBox="1"/>
            <p:nvPr/>
          </p:nvSpPr>
          <p:spPr>
            <a:xfrm>
              <a:off x="3868101" y="3051292"/>
              <a:ext cx="1001323" cy="523220"/>
            </a:xfrm>
            <a:prstGeom prst="rect">
              <a:avLst/>
            </a:prstGeom>
            <a:noFill/>
          </p:spPr>
          <p:txBody>
            <a:bodyPr wrap="square" rtlCol="0">
              <a:spAutoFit/>
            </a:bodyPr>
            <a:lstStyle/>
            <a:p>
              <a:r>
                <a:rPr lang="vi-VN" sz="2800" b="1" dirty="0"/>
                <a:t>UAV</a:t>
              </a:r>
              <a:endParaRPr lang="en-US" sz="2800" b="1" dirty="0"/>
            </a:p>
          </p:txBody>
        </p:sp>
        <p:sp>
          <p:nvSpPr>
            <p:cNvPr id="60" name="TextBox 59">
              <a:extLst>
                <a:ext uri="{FF2B5EF4-FFF2-40B4-BE49-F238E27FC236}">
                  <a16:creationId xmlns:a16="http://schemas.microsoft.com/office/drawing/2014/main" id="{4F413A93-DBCB-96E2-ABF0-5C6239FAB80E}"/>
                </a:ext>
              </a:extLst>
            </p:cNvPr>
            <p:cNvSpPr txBox="1"/>
            <p:nvPr/>
          </p:nvSpPr>
          <p:spPr>
            <a:xfrm>
              <a:off x="3077072" y="2040034"/>
              <a:ext cx="762000" cy="523220"/>
            </a:xfrm>
            <a:prstGeom prst="rect">
              <a:avLst/>
            </a:prstGeom>
            <a:noFill/>
          </p:spPr>
          <p:txBody>
            <a:bodyPr wrap="square" rtlCol="0">
              <a:spAutoFit/>
            </a:bodyPr>
            <a:lstStyle/>
            <a:p>
              <a:r>
                <a:rPr lang="vi-VN" sz="2800" dirty="0"/>
                <a:t>z</a:t>
              </a:r>
              <a:endParaRPr lang="en-US" sz="2800" dirty="0"/>
            </a:p>
          </p:txBody>
        </p:sp>
      </p:grpSp>
      <p:cxnSp>
        <p:nvCxnSpPr>
          <p:cNvPr id="71" name="Straight Connector 70">
            <a:extLst>
              <a:ext uri="{FF2B5EF4-FFF2-40B4-BE49-F238E27FC236}">
                <a16:creationId xmlns:a16="http://schemas.microsoft.com/office/drawing/2014/main" id="{2AA18DE6-7632-9955-923F-29B5481B0F40}"/>
              </a:ext>
            </a:extLst>
          </p:cNvPr>
          <p:cNvCxnSpPr>
            <a:cxnSpLocks/>
            <a:stCxn id="69" idx="6"/>
          </p:cNvCxnSpPr>
          <p:nvPr/>
        </p:nvCxnSpPr>
        <p:spPr>
          <a:xfrm>
            <a:off x="7284361" y="2809270"/>
            <a:ext cx="1094357" cy="64494"/>
          </a:xfrm>
          <a:prstGeom prst="line">
            <a:avLst/>
          </a:prstGeom>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C521F795-7692-2F12-D2E6-8B50F6BD63DB}"/>
              </a:ext>
            </a:extLst>
          </p:cNvPr>
          <p:cNvGrpSpPr/>
          <p:nvPr/>
        </p:nvGrpSpPr>
        <p:grpSpPr>
          <a:xfrm>
            <a:off x="11156040" y="6700113"/>
            <a:ext cx="1550833" cy="1848911"/>
            <a:chOff x="11219681" y="4922709"/>
            <a:chExt cx="1550833" cy="1848911"/>
          </a:xfrm>
        </p:grpSpPr>
        <p:pic>
          <p:nvPicPr>
            <p:cNvPr id="74" name="Picture 73">
              <a:extLst>
                <a:ext uri="{FF2B5EF4-FFF2-40B4-BE49-F238E27FC236}">
                  <a16:creationId xmlns:a16="http://schemas.microsoft.com/office/drawing/2014/main" id="{BF297383-2F13-DB25-93F9-6286EB46C65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19681" y="4922709"/>
              <a:ext cx="1550833" cy="1550833"/>
            </a:xfrm>
            <a:prstGeom prst="rect">
              <a:avLst/>
            </a:prstGeom>
          </p:spPr>
        </p:pic>
        <p:sp>
          <p:nvSpPr>
            <p:cNvPr id="75" name="TextBox 74">
              <a:extLst>
                <a:ext uri="{FF2B5EF4-FFF2-40B4-BE49-F238E27FC236}">
                  <a16:creationId xmlns:a16="http://schemas.microsoft.com/office/drawing/2014/main" id="{302C3EBE-0449-EE59-CC5E-0E41D9C26227}"/>
                </a:ext>
              </a:extLst>
            </p:cNvPr>
            <p:cNvSpPr txBox="1"/>
            <p:nvPr/>
          </p:nvSpPr>
          <p:spPr>
            <a:xfrm>
              <a:off x="11722241" y="6248400"/>
              <a:ext cx="762000" cy="523220"/>
            </a:xfrm>
            <a:prstGeom prst="rect">
              <a:avLst/>
            </a:prstGeom>
            <a:noFill/>
          </p:spPr>
          <p:txBody>
            <a:bodyPr wrap="square" rtlCol="0">
              <a:spAutoFit/>
            </a:bodyPr>
            <a:lstStyle/>
            <a:p>
              <a:r>
                <a:rPr lang="vi-VN" sz="2800" b="1" dirty="0"/>
                <a:t>u1</a:t>
              </a:r>
              <a:endParaRPr lang="en-US" sz="2800" b="1" dirty="0"/>
            </a:p>
          </p:txBody>
        </p:sp>
      </p:grpSp>
      <p:grpSp>
        <p:nvGrpSpPr>
          <p:cNvPr id="76" name="Group 75">
            <a:extLst>
              <a:ext uri="{FF2B5EF4-FFF2-40B4-BE49-F238E27FC236}">
                <a16:creationId xmlns:a16="http://schemas.microsoft.com/office/drawing/2014/main" id="{469E2AC6-7FA0-FD9A-C0AA-4652D0E00041}"/>
              </a:ext>
            </a:extLst>
          </p:cNvPr>
          <p:cNvGrpSpPr/>
          <p:nvPr/>
        </p:nvGrpSpPr>
        <p:grpSpPr>
          <a:xfrm>
            <a:off x="11308440" y="6852513"/>
            <a:ext cx="1550833" cy="1848911"/>
            <a:chOff x="11219681" y="4922709"/>
            <a:chExt cx="1550833" cy="1848911"/>
          </a:xfrm>
        </p:grpSpPr>
        <p:pic>
          <p:nvPicPr>
            <p:cNvPr id="77" name="Picture 76">
              <a:extLst>
                <a:ext uri="{FF2B5EF4-FFF2-40B4-BE49-F238E27FC236}">
                  <a16:creationId xmlns:a16="http://schemas.microsoft.com/office/drawing/2014/main" id="{FBBE9D14-2FD3-0ED4-A0C9-6F961F21DC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19681" y="4922709"/>
              <a:ext cx="1550833" cy="1550833"/>
            </a:xfrm>
            <a:prstGeom prst="rect">
              <a:avLst/>
            </a:prstGeom>
          </p:spPr>
        </p:pic>
        <p:sp>
          <p:nvSpPr>
            <p:cNvPr id="78" name="TextBox 77">
              <a:extLst>
                <a:ext uri="{FF2B5EF4-FFF2-40B4-BE49-F238E27FC236}">
                  <a16:creationId xmlns:a16="http://schemas.microsoft.com/office/drawing/2014/main" id="{6EC4C9BB-B2FE-671B-F86C-7343903F301A}"/>
                </a:ext>
              </a:extLst>
            </p:cNvPr>
            <p:cNvSpPr txBox="1"/>
            <p:nvPr/>
          </p:nvSpPr>
          <p:spPr>
            <a:xfrm>
              <a:off x="11722241" y="6248400"/>
              <a:ext cx="762000" cy="523220"/>
            </a:xfrm>
            <a:prstGeom prst="rect">
              <a:avLst/>
            </a:prstGeom>
            <a:noFill/>
          </p:spPr>
          <p:txBody>
            <a:bodyPr wrap="square" rtlCol="0">
              <a:spAutoFit/>
            </a:bodyPr>
            <a:lstStyle/>
            <a:p>
              <a:r>
                <a:rPr lang="vi-VN" sz="2800" b="1" dirty="0"/>
                <a:t>u1</a:t>
              </a:r>
              <a:endParaRPr lang="en-US" sz="2800" b="1" dirty="0"/>
            </a:p>
          </p:txBody>
        </p:sp>
      </p:grpSp>
      <p:sp>
        <p:nvSpPr>
          <p:cNvPr id="80" name="TextBox 79">
            <a:extLst>
              <a:ext uri="{FF2B5EF4-FFF2-40B4-BE49-F238E27FC236}">
                <a16:creationId xmlns:a16="http://schemas.microsoft.com/office/drawing/2014/main" id="{BF2849F4-0EC2-9FE3-2182-4C8D86367242}"/>
              </a:ext>
            </a:extLst>
          </p:cNvPr>
          <p:cNvSpPr txBox="1"/>
          <p:nvPr/>
        </p:nvSpPr>
        <p:spPr>
          <a:xfrm>
            <a:off x="8359530" y="2604063"/>
            <a:ext cx="912725" cy="553998"/>
          </a:xfrm>
          <a:prstGeom prst="rect">
            <a:avLst/>
          </a:prstGeom>
          <a:noFill/>
        </p:spPr>
        <p:txBody>
          <a:bodyPr wrap="square">
            <a:spAutoFit/>
          </a:bodyPr>
          <a:lstStyle/>
          <a:p>
            <a:r>
              <a:rPr lang="vi-VN" sz="3000" b="1" dirty="0"/>
              <a:t>SU</a:t>
            </a:r>
            <a:endParaRPr lang="en-US" sz="3000" b="1" dirty="0"/>
          </a:p>
        </p:txBody>
      </p:sp>
      <p:cxnSp>
        <p:nvCxnSpPr>
          <p:cNvPr id="84" name="Straight Connector 83">
            <a:extLst>
              <a:ext uri="{FF2B5EF4-FFF2-40B4-BE49-F238E27FC236}">
                <a16:creationId xmlns:a16="http://schemas.microsoft.com/office/drawing/2014/main" id="{EF732C84-4B1C-9CA2-9405-3F65F17E4ACB}"/>
              </a:ext>
            </a:extLst>
          </p:cNvPr>
          <p:cNvCxnSpPr>
            <a:cxnSpLocks/>
          </p:cNvCxnSpPr>
          <p:nvPr/>
        </p:nvCxnSpPr>
        <p:spPr>
          <a:xfrm flipH="1" flipV="1">
            <a:off x="11055070" y="4688499"/>
            <a:ext cx="598594" cy="1309304"/>
          </a:xfrm>
          <a:prstGeom prst="line">
            <a:avLst/>
          </a:prstGeom>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0EBBD1F4-2A7D-1578-9A8D-5AD9571AFEB7}"/>
              </a:ext>
            </a:extLst>
          </p:cNvPr>
          <p:cNvSpPr txBox="1"/>
          <p:nvPr/>
        </p:nvSpPr>
        <p:spPr>
          <a:xfrm>
            <a:off x="10519333" y="4018656"/>
            <a:ext cx="912725" cy="553998"/>
          </a:xfrm>
          <a:prstGeom prst="rect">
            <a:avLst/>
          </a:prstGeom>
          <a:noFill/>
        </p:spPr>
        <p:txBody>
          <a:bodyPr wrap="square">
            <a:spAutoFit/>
          </a:bodyPr>
          <a:lstStyle/>
          <a:p>
            <a:r>
              <a:rPr lang="vi-VN" sz="3000" b="1" dirty="0"/>
              <a:t>PU</a:t>
            </a:r>
            <a:endParaRPr lang="en-US" sz="3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0871F-4B37-C16E-DF45-AC15544759C9}"/>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CDC8943F-E7A7-4B77-F58C-14A2CD540D2E}"/>
              </a:ext>
            </a:extLst>
          </p:cNvPr>
          <p:cNvSpPr/>
          <p:nvPr/>
        </p:nvSpPr>
        <p:spPr>
          <a:xfrm>
            <a:off x="-934766" y="9609564"/>
            <a:ext cx="20157534" cy="822097"/>
          </a:xfrm>
          <a:custGeom>
            <a:avLst/>
            <a:gdLst/>
            <a:ahLst/>
            <a:cxnLst/>
            <a:rect l="l" t="t" r="r" b="b"/>
            <a:pathLst>
              <a:path w="20157534" h="822097">
                <a:moveTo>
                  <a:pt x="0" y="0"/>
                </a:moveTo>
                <a:lnTo>
                  <a:pt x="20157534" y="0"/>
                </a:lnTo>
                <a:lnTo>
                  <a:pt x="20157534" y="822097"/>
                </a:lnTo>
                <a:lnTo>
                  <a:pt x="0" y="822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a:extLst>
              <a:ext uri="{FF2B5EF4-FFF2-40B4-BE49-F238E27FC236}">
                <a16:creationId xmlns:a16="http://schemas.microsoft.com/office/drawing/2014/main" id="{11ED40D6-7D44-A3C0-FAC5-7E94224E8E4B}"/>
              </a:ext>
            </a:extLst>
          </p:cNvPr>
          <p:cNvGrpSpPr/>
          <p:nvPr/>
        </p:nvGrpSpPr>
        <p:grpSpPr>
          <a:xfrm>
            <a:off x="0" y="1028700"/>
            <a:ext cx="11653664" cy="750197"/>
            <a:chOff x="0" y="0"/>
            <a:chExt cx="3069278" cy="197583"/>
          </a:xfrm>
        </p:grpSpPr>
        <p:sp>
          <p:nvSpPr>
            <p:cNvPr id="5" name="Freeform 5">
              <a:extLst>
                <a:ext uri="{FF2B5EF4-FFF2-40B4-BE49-F238E27FC236}">
                  <a16:creationId xmlns:a16="http://schemas.microsoft.com/office/drawing/2014/main" id="{9CF2F25B-4027-F194-334B-F2CCA161D6AA}"/>
                </a:ext>
              </a:extLst>
            </p:cNvPr>
            <p:cNvSpPr/>
            <p:nvPr/>
          </p:nvSpPr>
          <p:spPr>
            <a:xfrm>
              <a:off x="0" y="0"/>
              <a:ext cx="3069278" cy="197583"/>
            </a:xfrm>
            <a:custGeom>
              <a:avLst/>
              <a:gdLst/>
              <a:ahLst/>
              <a:cxnLst/>
              <a:rect l="l" t="t" r="r" b="b"/>
              <a:pathLst>
                <a:path w="3069278" h="197583">
                  <a:moveTo>
                    <a:pt x="2866078" y="0"/>
                  </a:moveTo>
                  <a:lnTo>
                    <a:pt x="0" y="0"/>
                  </a:lnTo>
                  <a:lnTo>
                    <a:pt x="0" y="197583"/>
                  </a:lnTo>
                  <a:lnTo>
                    <a:pt x="2866078" y="197583"/>
                  </a:lnTo>
                  <a:lnTo>
                    <a:pt x="3069278" y="98791"/>
                  </a:lnTo>
                  <a:lnTo>
                    <a:pt x="2866078" y="0"/>
                  </a:lnTo>
                  <a:close/>
                </a:path>
              </a:pathLst>
            </a:custGeom>
            <a:solidFill>
              <a:srgbClr val="043F86"/>
            </a:solidFill>
          </p:spPr>
        </p:sp>
        <p:sp>
          <p:nvSpPr>
            <p:cNvPr id="6" name="TextBox 6">
              <a:extLst>
                <a:ext uri="{FF2B5EF4-FFF2-40B4-BE49-F238E27FC236}">
                  <a16:creationId xmlns:a16="http://schemas.microsoft.com/office/drawing/2014/main" id="{761F2801-5D77-6FC1-523D-8AC749FCCBE2}"/>
                </a:ext>
              </a:extLst>
            </p:cNvPr>
            <p:cNvSpPr txBox="1"/>
            <p:nvPr/>
          </p:nvSpPr>
          <p:spPr>
            <a:xfrm>
              <a:off x="0" y="-38100"/>
              <a:ext cx="2954978" cy="235683"/>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DBF5E280-D282-E050-36B2-08E86067CF4C}"/>
              </a:ext>
            </a:extLst>
          </p:cNvPr>
          <p:cNvSpPr txBox="1"/>
          <p:nvPr/>
        </p:nvSpPr>
        <p:spPr>
          <a:xfrm>
            <a:off x="520894" y="1075691"/>
            <a:ext cx="12036917" cy="587361"/>
          </a:xfrm>
          <a:prstGeom prst="rect">
            <a:avLst/>
          </a:prstGeom>
        </p:spPr>
        <p:txBody>
          <a:bodyPr lIns="0" tIns="0" rIns="0" bIns="0" rtlCol="0" anchor="t">
            <a:spAutoFit/>
          </a:bodyPr>
          <a:lstStyle/>
          <a:p>
            <a:pPr algn="just">
              <a:lnSpc>
                <a:spcPts val="4898"/>
              </a:lnSpc>
            </a:pPr>
            <a:r>
              <a:rPr lang="vi-VN" sz="3499" dirty="0">
                <a:solidFill>
                  <a:srgbClr val="FFFFFF"/>
                </a:solidFill>
                <a:latin typeface="Canva Sans"/>
                <a:ea typeface="Canva Sans"/>
                <a:cs typeface="Canva Sans"/>
                <a:sym typeface="Canva Sans"/>
              </a:rPr>
              <a:t>Động lực</a:t>
            </a:r>
            <a:endParaRPr lang="en-US" sz="3499" dirty="0">
              <a:solidFill>
                <a:srgbClr val="FFFFFF"/>
              </a:solidFill>
              <a:latin typeface="Canva Sans"/>
              <a:ea typeface="Canva Sans"/>
              <a:cs typeface="Canva Sans"/>
              <a:sym typeface="Canva Sans"/>
            </a:endParaRPr>
          </a:p>
        </p:txBody>
      </p:sp>
      <p:sp>
        <p:nvSpPr>
          <p:cNvPr id="9" name="TextBox 9">
            <a:extLst>
              <a:ext uri="{FF2B5EF4-FFF2-40B4-BE49-F238E27FC236}">
                <a16:creationId xmlns:a16="http://schemas.microsoft.com/office/drawing/2014/main" id="{B6D787D2-C09F-2900-8F6A-79464C6269D7}"/>
              </a:ext>
            </a:extLst>
          </p:cNvPr>
          <p:cNvSpPr txBox="1"/>
          <p:nvPr/>
        </p:nvSpPr>
        <p:spPr>
          <a:xfrm>
            <a:off x="239974" y="131256"/>
            <a:ext cx="13364303" cy="683873"/>
          </a:xfrm>
          <a:prstGeom prst="rect">
            <a:avLst/>
          </a:prstGeom>
        </p:spPr>
        <p:txBody>
          <a:bodyPr lIns="0" tIns="0" rIns="0" bIns="0" rtlCol="0" anchor="t">
            <a:spAutoFit/>
          </a:bodyPr>
          <a:lstStyle/>
          <a:p>
            <a:pPr algn="l">
              <a:lnSpc>
                <a:spcPts val="5490"/>
              </a:lnSpc>
            </a:pPr>
            <a:r>
              <a:rPr lang="en-US" sz="4499" b="1">
                <a:solidFill>
                  <a:srgbClr val="FDFDFE"/>
                </a:solidFill>
                <a:latin typeface="Canva Sans Bold"/>
                <a:ea typeface="Canva Sans Bold"/>
                <a:cs typeface="Canva Sans Bold"/>
                <a:sym typeface="Canva Sans Bold"/>
              </a:rPr>
              <a:t>PHẦN I: ƯỚC LƯỢNG TRẠNG THÁI ROBOT</a:t>
            </a:r>
          </a:p>
        </p:txBody>
      </p:sp>
      <p:sp>
        <p:nvSpPr>
          <p:cNvPr id="10" name="TextBox 10">
            <a:extLst>
              <a:ext uri="{FF2B5EF4-FFF2-40B4-BE49-F238E27FC236}">
                <a16:creationId xmlns:a16="http://schemas.microsoft.com/office/drawing/2014/main" id="{4E8F23CF-CBC2-1662-0CBB-2B5253A87A12}"/>
              </a:ext>
            </a:extLst>
          </p:cNvPr>
          <p:cNvSpPr txBox="1"/>
          <p:nvPr/>
        </p:nvSpPr>
        <p:spPr>
          <a:xfrm>
            <a:off x="17706558" y="9776137"/>
            <a:ext cx="152400" cy="209550"/>
          </a:xfrm>
          <a:prstGeom prst="rect">
            <a:avLst/>
          </a:prstGeom>
        </p:spPr>
        <p:txBody>
          <a:bodyPr wrap="none"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3</a:t>
            </a:r>
          </a:p>
        </p:txBody>
      </p:sp>
      <mc:AlternateContent xmlns:mc="http://schemas.openxmlformats.org/markup-compatibility/2006">
        <mc:Choice xmlns:a14="http://schemas.microsoft.com/office/drawing/2010/main" Requires="a14">
          <p:sp>
            <p:nvSpPr>
              <p:cNvPr id="7" name="TextBox 7">
                <a:extLst>
                  <a:ext uri="{FF2B5EF4-FFF2-40B4-BE49-F238E27FC236}">
                    <a16:creationId xmlns:a16="http://schemas.microsoft.com/office/drawing/2014/main" id="{43F22E26-983C-7684-9AFC-910A65A762E6}"/>
                  </a:ext>
                </a:extLst>
              </p:cNvPr>
              <p:cNvSpPr txBox="1"/>
              <p:nvPr/>
            </p:nvSpPr>
            <p:spPr>
              <a:xfrm>
                <a:off x="520894" y="2274083"/>
                <a:ext cx="16928906" cy="4161139"/>
              </a:xfrm>
              <a:prstGeom prst="rect">
                <a:avLst/>
              </a:prstGeom>
            </p:spPr>
            <p:txBody>
              <a:bodyPr wrap="square" lIns="0" tIns="0" rIns="0" bIns="0" rtlCol="0" anchor="t">
                <a:spAutoFit/>
              </a:bodyPr>
              <a:lstStyle/>
              <a:p>
                <a:pPr algn="l">
                  <a:lnSpc>
                    <a:spcPts val="2684"/>
                  </a:lnSpc>
                </a:pPr>
                <a:r>
                  <a:rPr lang="vi-VN" sz="3200" b="1" dirty="0">
                    <a:solidFill>
                      <a:srgbClr val="000000"/>
                    </a:solidFill>
                    <a:latin typeface="Canva Sans"/>
                    <a:ea typeface="Canva Sans"/>
                    <a:cs typeface="Canva Sans"/>
                    <a:sym typeface="Canva Sans"/>
                  </a:rPr>
                  <a:t>Tình huống giả định</a:t>
                </a:r>
              </a:p>
              <a:p>
                <a:pPr algn="l">
                  <a:lnSpc>
                    <a:spcPts val="2684"/>
                  </a:lnSpc>
                </a:pPr>
                <a:endParaRPr lang="vi-VN" sz="3200" b="1" dirty="0">
                  <a:solidFill>
                    <a:srgbClr val="000000"/>
                  </a:solidFill>
                  <a:latin typeface="Canva Sans"/>
                  <a:ea typeface="Canva Sans"/>
                  <a:cs typeface="Canva Sans"/>
                  <a:sym typeface="Canva Sans"/>
                </a:endParaRPr>
              </a:p>
              <a:p>
                <a:pPr algn="l">
                  <a:lnSpc>
                    <a:spcPts val="2684"/>
                  </a:lnSpc>
                </a:pPr>
                <a:r>
                  <a:rPr lang="vi-VN" sz="2800" dirty="0">
                    <a:solidFill>
                      <a:srgbClr val="000000"/>
                    </a:solidFill>
                    <a:latin typeface="Canva Sans"/>
                    <a:ea typeface="Canva Sans"/>
                    <a:cs typeface="Canva Sans"/>
                    <a:sym typeface="Canva Sans"/>
                  </a:rPr>
                  <a:t>Hệ thống UAV giám sát IOT một khu vực ngoài trời rộng lớn, thực hành giám sát định kỳ.</a:t>
                </a:r>
              </a:p>
              <a:p>
                <a:pPr algn="l">
                  <a:lnSpc>
                    <a:spcPts val="2684"/>
                  </a:lnSpc>
                </a:pPr>
                <a:endParaRPr lang="vi-VN" sz="2800" dirty="0">
                  <a:solidFill>
                    <a:srgbClr val="000000"/>
                  </a:solidFill>
                  <a:latin typeface="Canva Sans"/>
                  <a:ea typeface="Canva Sans"/>
                  <a:cs typeface="Canva Sans"/>
                  <a:sym typeface="Canva Sans"/>
                </a:endParaRPr>
              </a:p>
              <a:p>
                <a:pPr algn="l">
                  <a:lnSpc>
                    <a:spcPts val="2684"/>
                  </a:lnSpc>
                </a:pPr>
                <a:r>
                  <a:rPr lang="vi-VN" sz="3200" b="1" dirty="0">
                    <a:solidFill>
                      <a:srgbClr val="000000"/>
                    </a:solidFill>
                    <a:latin typeface="Canva Sans"/>
                    <a:ea typeface="Canva Sans"/>
                    <a:cs typeface="Canva Sans"/>
                    <a:sym typeface="Canva Sans"/>
                  </a:rPr>
                  <a:t>CR-NOMA</a:t>
                </a:r>
              </a:p>
              <a:p>
                <a:pPr algn="l">
                  <a:lnSpc>
                    <a:spcPts val="2684"/>
                  </a:lnSpc>
                </a:pPr>
                <a:r>
                  <a:rPr lang="vi-VN" sz="2800" dirty="0">
                    <a:solidFill>
                      <a:srgbClr val="000000"/>
                    </a:solidFill>
                    <a:latin typeface="Canva Sans"/>
                    <a:ea typeface="Canva Sans"/>
                    <a:cs typeface="Canva Sans"/>
                    <a:sym typeface="Canva Sans"/>
                  </a:rPr>
                  <a:t>Do công việc giám sát của camera không yêu cầu khắt khe về tầm quan trọng =&gt; Mượn nhờ dải tần có sẵn bằng CR-NOMA.</a:t>
                </a:r>
              </a:p>
              <a:p>
                <a:pPr algn="l">
                  <a:lnSpc>
                    <a:spcPts val="2684"/>
                  </a:lnSpc>
                </a:pPr>
                <a:endParaRPr lang="vi-VN" sz="2800" dirty="0">
                  <a:solidFill>
                    <a:srgbClr val="000000"/>
                  </a:solidFill>
                  <a:latin typeface="Canva Sans"/>
                  <a:ea typeface="Canva Sans"/>
                  <a:cs typeface="Canva Sans"/>
                  <a:sym typeface="Canva Sans"/>
                </a:endParaRPr>
              </a:p>
              <a:p>
                <a:pPr algn="l">
                  <a:lnSpc>
                    <a:spcPts val="2684"/>
                  </a:lnSpc>
                </a:pPr>
                <a:r>
                  <a:rPr lang="vi-VN" sz="3200" b="1" dirty="0">
                    <a:solidFill>
                      <a:srgbClr val="000000"/>
                    </a:solidFill>
                    <a:latin typeface="Canva Sans"/>
                    <a:ea typeface="Canva Sans"/>
                    <a:cs typeface="Canva Sans"/>
                    <a:sym typeface="Canva Sans"/>
                  </a:rPr>
                  <a:t>Yêu cầu:</a:t>
                </a:r>
              </a:p>
              <a:p>
                <a:pPr marL="457200" indent="-457200" algn="l">
                  <a:lnSpc>
                    <a:spcPts val="2684"/>
                  </a:lnSpc>
                  <a:buFontTx/>
                  <a:buChar char="-"/>
                </a:pPr>
                <a:r>
                  <a:rPr lang="vi-VN" sz="2800" dirty="0">
                    <a:solidFill>
                      <a:srgbClr val="000000"/>
                    </a:solidFill>
                    <a:latin typeface="Canva Sans"/>
                    <a:ea typeface="Canva Sans"/>
                    <a:cs typeface="Canva Sans"/>
                    <a:sym typeface="Canva Sans"/>
                  </a:rPr>
                  <a:t>UAV không được phát ra mức công suất quá lớn hoặc ở quá gần BS, gây ra can nhiễu </a:t>
                </a:r>
                <a14:m>
                  <m:oMath xmlns:m="http://schemas.openxmlformats.org/officeDocument/2006/math">
                    <m:sSub>
                      <m:sSubPr>
                        <m:ctrlPr>
                          <a:rPr lang="vi-VN" sz="2800" i="1" smtClean="0">
                            <a:solidFill>
                              <a:srgbClr val="000000"/>
                            </a:solidFill>
                            <a:latin typeface="Cambria Math" panose="02040503050406030204" pitchFamily="18" charset="0"/>
                            <a:sym typeface="Canva Sans"/>
                          </a:rPr>
                        </m:ctrlPr>
                      </m:sSubPr>
                      <m:e>
                        <m:r>
                          <m:rPr>
                            <m:sty m:val="p"/>
                          </m:rPr>
                          <a:rPr lang="vi-VN" sz="2800" i="1">
                            <a:solidFill>
                              <a:srgbClr val="000000"/>
                            </a:solidFill>
                            <a:latin typeface="Cambria Math" panose="02040503050406030204" pitchFamily="18" charset="0"/>
                            <a:sym typeface="Canva Sans"/>
                          </a:rPr>
                          <m:t>I</m:t>
                        </m:r>
                      </m:e>
                      <m:sub>
                        <m:r>
                          <m:rPr>
                            <m:sty m:val="p"/>
                          </m:rPr>
                          <a:rPr lang="vi-VN" sz="2800" i="1">
                            <a:solidFill>
                              <a:srgbClr val="000000"/>
                            </a:solidFill>
                            <a:latin typeface="Cambria Math" panose="02040503050406030204" pitchFamily="18" charset="0"/>
                            <a:sym typeface="Canva Sans"/>
                          </a:rPr>
                          <m:t>th</m:t>
                        </m:r>
                      </m:sub>
                    </m:sSub>
                  </m:oMath>
                </a14:m>
                <a:r>
                  <a:rPr lang="vi-VN" sz="3200" b="1" dirty="0">
                    <a:solidFill>
                      <a:srgbClr val="000000"/>
                    </a:solidFill>
                    <a:latin typeface="Canva Sans"/>
                    <a:ea typeface="Canva Sans"/>
                    <a:cs typeface="Canva Sans"/>
                    <a:sym typeface="Canva Sans"/>
                  </a:rPr>
                  <a:t> </a:t>
                </a:r>
                <a:r>
                  <a:rPr lang="vi-VN" sz="3200" dirty="0">
                    <a:solidFill>
                      <a:srgbClr val="000000"/>
                    </a:solidFill>
                    <a:latin typeface="Canva Sans"/>
                    <a:ea typeface="Canva Sans"/>
                    <a:cs typeface="Canva Sans"/>
                    <a:sym typeface="Canva Sans"/>
                  </a:rPr>
                  <a:t>cho PU</a:t>
                </a:r>
              </a:p>
              <a:p>
                <a:pPr marL="457200" indent="-457200" algn="l">
                  <a:lnSpc>
                    <a:spcPts val="2684"/>
                  </a:lnSpc>
                  <a:buFontTx/>
                  <a:buChar char="-"/>
                </a:pPr>
                <a:r>
                  <a:rPr lang="vi-VN" sz="2800" dirty="0">
                    <a:solidFill>
                      <a:srgbClr val="000000"/>
                    </a:solidFill>
                    <a:latin typeface="Canva Sans"/>
                    <a:ea typeface="Canva Sans"/>
                    <a:cs typeface="Canva Sans"/>
                    <a:sym typeface="Canva Sans"/>
                  </a:rPr>
                  <a:t>UAV được đảm bảo mức QoE đủ tốt</a:t>
                </a:r>
              </a:p>
              <a:p>
                <a:pPr marL="457200" indent="-457200" algn="l">
                  <a:lnSpc>
                    <a:spcPts val="2684"/>
                  </a:lnSpc>
                  <a:buFontTx/>
                  <a:buChar char="-"/>
                </a:pPr>
                <a:endParaRPr lang="vi-VN" sz="2800" dirty="0">
                  <a:solidFill>
                    <a:srgbClr val="000000"/>
                  </a:solidFill>
                  <a:latin typeface="Canva Sans"/>
                  <a:ea typeface="Canva Sans"/>
                  <a:cs typeface="Canva Sans"/>
                  <a:sym typeface="Canva Sans"/>
                </a:endParaRPr>
              </a:p>
            </p:txBody>
          </p:sp>
        </mc:Choice>
        <mc:Fallback>
          <p:sp>
            <p:nvSpPr>
              <p:cNvPr id="7" name="TextBox 7">
                <a:extLst>
                  <a:ext uri="{FF2B5EF4-FFF2-40B4-BE49-F238E27FC236}">
                    <a16:creationId xmlns:a16="http://schemas.microsoft.com/office/drawing/2014/main" id="{43F22E26-983C-7684-9AFC-910A65A762E6}"/>
                  </a:ext>
                </a:extLst>
              </p:cNvPr>
              <p:cNvSpPr txBox="1">
                <a:spLocks noRot="1" noChangeAspect="1" noMove="1" noResize="1" noEditPoints="1" noAdjustHandles="1" noChangeArrowheads="1" noChangeShapeType="1" noTextEdit="1"/>
              </p:cNvSpPr>
              <p:nvPr/>
            </p:nvSpPr>
            <p:spPr>
              <a:xfrm>
                <a:off x="520894" y="2274083"/>
                <a:ext cx="16928906" cy="4161139"/>
              </a:xfrm>
              <a:prstGeom prst="rect">
                <a:avLst/>
              </a:prstGeom>
              <a:blipFill>
                <a:blip r:embed="rId4"/>
                <a:stretch>
                  <a:fillRect l="-1440" t="-6003" r="-1080"/>
                </a:stretch>
              </a:blipFill>
            </p:spPr>
            <p:txBody>
              <a:bodyPr/>
              <a:lstStyle/>
              <a:p>
                <a:r>
                  <a:rPr lang="en-US">
                    <a:noFill/>
                  </a:rPr>
                  <a:t> </a:t>
                </a:r>
              </a:p>
            </p:txBody>
          </p:sp>
        </mc:Fallback>
      </mc:AlternateContent>
    </p:spTree>
    <p:extLst>
      <p:ext uri="{BB962C8B-B14F-4D97-AF65-F5344CB8AC3E}">
        <p14:creationId xmlns:p14="http://schemas.microsoft.com/office/powerpoint/2010/main" val="1256660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E880A-5D64-3DDF-B635-D26FED9B8F55}"/>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22FE7006-E6D0-2536-4DE9-2035D980182D}"/>
              </a:ext>
            </a:extLst>
          </p:cNvPr>
          <p:cNvSpPr/>
          <p:nvPr/>
        </p:nvSpPr>
        <p:spPr>
          <a:xfrm>
            <a:off x="-934766" y="9609564"/>
            <a:ext cx="20157534" cy="822097"/>
          </a:xfrm>
          <a:custGeom>
            <a:avLst/>
            <a:gdLst/>
            <a:ahLst/>
            <a:cxnLst/>
            <a:rect l="l" t="t" r="r" b="b"/>
            <a:pathLst>
              <a:path w="20157534" h="822097">
                <a:moveTo>
                  <a:pt x="0" y="0"/>
                </a:moveTo>
                <a:lnTo>
                  <a:pt x="20157534" y="0"/>
                </a:lnTo>
                <a:lnTo>
                  <a:pt x="20157534" y="822097"/>
                </a:lnTo>
                <a:lnTo>
                  <a:pt x="0" y="822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a:extLst>
              <a:ext uri="{FF2B5EF4-FFF2-40B4-BE49-F238E27FC236}">
                <a16:creationId xmlns:a16="http://schemas.microsoft.com/office/drawing/2014/main" id="{49C539DD-3906-33BB-1C44-392713CF13B9}"/>
              </a:ext>
            </a:extLst>
          </p:cNvPr>
          <p:cNvGrpSpPr/>
          <p:nvPr/>
        </p:nvGrpSpPr>
        <p:grpSpPr>
          <a:xfrm>
            <a:off x="0" y="1028700"/>
            <a:ext cx="11653664" cy="750197"/>
            <a:chOff x="0" y="0"/>
            <a:chExt cx="3069278" cy="197583"/>
          </a:xfrm>
        </p:grpSpPr>
        <p:sp>
          <p:nvSpPr>
            <p:cNvPr id="5" name="Freeform 5">
              <a:extLst>
                <a:ext uri="{FF2B5EF4-FFF2-40B4-BE49-F238E27FC236}">
                  <a16:creationId xmlns:a16="http://schemas.microsoft.com/office/drawing/2014/main" id="{D40EC240-FAB6-7757-0175-A39132132A21}"/>
                </a:ext>
              </a:extLst>
            </p:cNvPr>
            <p:cNvSpPr/>
            <p:nvPr/>
          </p:nvSpPr>
          <p:spPr>
            <a:xfrm>
              <a:off x="0" y="0"/>
              <a:ext cx="3069278" cy="197583"/>
            </a:xfrm>
            <a:custGeom>
              <a:avLst/>
              <a:gdLst/>
              <a:ahLst/>
              <a:cxnLst/>
              <a:rect l="l" t="t" r="r" b="b"/>
              <a:pathLst>
                <a:path w="3069278" h="197583">
                  <a:moveTo>
                    <a:pt x="2866078" y="0"/>
                  </a:moveTo>
                  <a:lnTo>
                    <a:pt x="0" y="0"/>
                  </a:lnTo>
                  <a:lnTo>
                    <a:pt x="0" y="197583"/>
                  </a:lnTo>
                  <a:lnTo>
                    <a:pt x="2866078" y="197583"/>
                  </a:lnTo>
                  <a:lnTo>
                    <a:pt x="3069278" y="98791"/>
                  </a:lnTo>
                  <a:lnTo>
                    <a:pt x="2866078" y="0"/>
                  </a:lnTo>
                  <a:close/>
                </a:path>
              </a:pathLst>
            </a:custGeom>
            <a:solidFill>
              <a:srgbClr val="043F86"/>
            </a:solidFill>
          </p:spPr>
        </p:sp>
        <p:sp>
          <p:nvSpPr>
            <p:cNvPr id="6" name="TextBox 6">
              <a:extLst>
                <a:ext uri="{FF2B5EF4-FFF2-40B4-BE49-F238E27FC236}">
                  <a16:creationId xmlns:a16="http://schemas.microsoft.com/office/drawing/2014/main" id="{BB33EAAB-6513-41A8-B47A-7E5C4E3DEA35}"/>
                </a:ext>
              </a:extLst>
            </p:cNvPr>
            <p:cNvSpPr txBox="1"/>
            <p:nvPr/>
          </p:nvSpPr>
          <p:spPr>
            <a:xfrm>
              <a:off x="0" y="-38100"/>
              <a:ext cx="2954978" cy="235683"/>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91F0F82B-44E6-9239-6D6A-D7A834908020}"/>
              </a:ext>
            </a:extLst>
          </p:cNvPr>
          <p:cNvSpPr txBox="1"/>
          <p:nvPr/>
        </p:nvSpPr>
        <p:spPr>
          <a:xfrm>
            <a:off x="520894" y="1075691"/>
            <a:ext cx="12036917" cy="587361"/>
          </a:xfrm>
          <a:prstGeom prst="rect">
            <a:avLst/>
          </a:prstGeom>
        </p:spPr>
        <p:txBody>
          <a:bodyPr lIns="0" tIns="0" rIns="0" bIns="0" rtlCol="0" anchor="t">
            <a:spAutoFit/>
          </a:bodyPr>
          <a:lstStyle/>
          <a:p>
            <a:pPr algn="just">
              <a:lnSpc>
                <a:spcPts val="4898"/>
              </a:lnSpc>
            </a:pPr>
            <a:r>
              <a:rPr lang="vi-VN" sz="3499" dirty="0">
                <a:solidFill>
                  <a:srgbClr val="FFFFFF"/>
                </a:solidFill>
                <a:latin typeface="Canva Sans"/>
                <a:ea typeface="Canva Sans"/>
                <a:cs typeface="Canva Sans"/>
                <a:sym typeface="Canva Sans"/>
              </a:rPr>
              <a:t>Bài toán</a:t>
            </a:r>
            <a:endParaRPr lang="en-US" sz="3499" dirty="0">
              <a:solidFill>
                <a:srgbClr val="FFFFFF"/>
              </a:solidFill>
              <a:latin typeface="Canva Sans"/>
              <a:ea typeface="Canva Sans"/>
              <a:cs typeface="Canva Sans"/>
              <a:sym typeface="Canva Sans"/>
            </a:endParaRPr>
          </a:p>
        </p:txBody>
      </p:sp>
      <p:sp>
        <p:nvSpPr>
          <p:cNvPr id="10" name="TextBox 10">
            <a:extLst>
              <a:ext uri="{FF2B5EF4-FFF2-40B4-BE49-F238E27FC236}">
                <a16:creationId xmlns:a16="http://schemas.microsoft.com/office/drawing/2014/main" id="{CD341D3B-769A-BC08-0CB9-8A7F64581AA1}"/>
              </a:ext>
            </a:extLst>
          </p:cNvPr>
          <p:cNvSpPr txBox="1"/>
          <p:nvPr/>
        </p:nvSpPr>
        <p:spPr>
          <a:xfrm>
            <a:off x="17706558" y="9776137"/>
            <a:ext cx="152400" cy="209550"/>
          </a:xfrm>
          <a:prstGeom prst="rect">
            <a:avLst/>
          </a:prstGeom>
        </p:spPr>
        <p:txBody>
          <a:bodyPr wrap="none"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3</a:t>
            </a:r>
          </a:p>
        </p:txBody>
      </p:sp>
      <p:sp>
        <p:nvSpPr>
          <p:cNvPr id="7" name="TextBox 7">
            <a:extLst>
              <a:ext uri="{FF2B5EF4-FFF2-40B4-BE49-F238E27FC236}">
                <a16:creationId xmlns:a16="http://schemas.microsoft.com/office/drawing/2014/main" id="{4B1D1D59-C32E-6F83-C2F9-68555B477FDE}"/>
              </a:ext>
            </a:extLst>
          </p:cNvPr>
          <p:cNvSpPr txBox="1"/>
          <p:nvPr/>
        </p:nvSpPr>
        <p:spPr>
          <a:xfrm>
            <a:off x="520894" y="2274083"/>
            <a:ext cx="16928906" cy="713785"/>
          </a:xfrm>
          <a:prstGeom prst="rect">
            <a:avLst/>
          </a:prstGeom>
        </p:spPr>
        <p:txBody>
          <a:bodyPr wrap="square" lIns="0" tIns="0" rIns="0" bIns="0" rtlCol="0" anchor="t">
            <a:spAutoFit/>
          </a:bodyPr>
          <a:lstStyle/>
          <a:p>
            <a:pPr algn="l">
              <a:lnSpc>
                <a:spcPts val="2684"/>
              </a:lnSpc>
            </a:pPr>
            <a:r>
              <a:rPr lang="vi-VN" sz="3200" i="1" u="sng" dirty="0">
                <a:solidFill>
                  <a:srgbClr val="000000"/>
                </a:solidFill>
                <a:latin typeface="Canva Sans"/>
                <a:ea typeface="Canva Sans"/>
                <a:cs typeface="Canva Sans"/>
                <a:sym typeface="Canva Sans"/>
              </a:rPr>
              <a:t>UAV bay từ A-B, tối ưu quỹ đạo và phân bổ công suất sao cho không ảnh hưởng PU và đảm bảo QoE</a:t>
            </a:r>
          </a:p>
        </p:txBody>
      </p:sp>
      <p:sp>
        <p:nvSpPr>
          <p:cNvPr id="11" name="TextBox 7">
            <a:extLst>
              <a:ext uri="{FF2B5EF4-FFF2-40B4-BE49-F238E27FC236}">
                <a16:creationId xmlns:a16="http://schemas.microsoft.com/office/drawing/2014/main" id="{3050A34F-6BB5-04AE-4E4E-23B67878234B}"/>
              </a:ext>
            </a:extLst>
          </p:cNvPr>
          <p:cNvSpPr txBox="1"/>
          <p:nvPr/>
        </p:nvSpPr>
        <p:spPr>
          <a:xfrm>
            <a:off x="542665" y="3275686"/>
            <a:ext cx="2276735" cy="367537"/>
          </a:xfrm>
          <a:prstGeom prst="rect">
            <a:avLst/>
          </a:prstGeom>
        </p:spPr>
        <p:txBody>
          <a:bodyPr wrap="square" lIns="0" tIns="0" rIns="0" bIns="0" rtlCol="0" anchor="t">
            <a:spAutoFit/>
          </a:bodyPr>
          <a:lstStyle/>
          <a:p>
            <a:pPr algn="l">
              <a:lnSpc>
                <a:spcPts val="2684"/>
              </a:lnSpc>
            </a:pPr>
            <a:r>
              <a:rPr lang="vi-VN" sz="3200" b="1" dirty="0">
                <a:solidFill>
                  <a:srgbClr val="000000"/>
                </a:solidFill>
                <a:latin typeface="Canva Sans"/>
                <a:ea typeface="Canva Sans"/>
                <a:cs typeface="Canva Sans"/>
                <a:sym typeface="Canva Sans"/>
              </a:rPr>
              <a:t>Ràng buộc:</a:t>
            </a:r>
          </a:p>
        </p:txBody>
      </p:sp>
      <p:sp>
        <p:nvSpPr>
          <p:cNvPr id="13" name="TextBox 12">
            <a:extLst>
              <a:ext uri="{FF2B5EF4-FFF2-40B4-BE49-F238E27FC236}">
                <a16:creationId xmlns:a16="http://schemas.microsoft.com/office/drawing/2014/main" id="{87C96E60-7796-3F60-71CA-F19F98D483A3}"/>
              </a:ext>
            </a:extLst>
          </p:cNvPr>
          <p:cNvSpPr txBox="1"/>
          <p:nvPr/>
        </p:nvSpPr>
        <p:spPr>
          <a:xfrm>
            <a:off x="510008" y="3724702"/>
            <a:ext cx="3810082" cy="453073"/>
          </a:xfrm>
          <a:prstGeom prst="rect">
            <a:avLst/>
          </a:prstGeom>
          <a:noFill/>
        </p:spPr>
        <p:txBody>
          <a:bodyPr wrap="square">
            <a:spAutoFit/>
          </a:bodyPr>
          <a:lstStyle/>
          <a:p>
            <a:pPr algn="l">
              <a:lnSpc>
                <a:spcPts val="2684"/>
              </a:lnSpc>
            </a:pPr>
            <a:r>
              <a:rPr lang="vi-VN" sz="3000" b="1" dirty="0">
                <a:solidFill>
                  <a:srgbClr val="000000"/>
                </a:solidFill>
                <a:latin typeface="Canva Sans"/>
                <a:ea typeface="Canva Sans"/>
                <a:cs typeface="Canva Sans"/>
                <a:sym typeface="Canva Sans"/>
              </a:rPr>
              <a:t>Vận tốc tối đa UAV:</a:t>
            </a:r>
          </a:p>
        </p:txBody>
      </p:sp>
      <p:pic>
        <p:nvPicPr>
          <p:cNvPr id="17" name="Picture 16">
            <a:extLst>
              <a:ext uri="{FF2B5EF4-FFF2-40B4-BE49-F238E27FC236}">
                <a16:creationId xmlns:a16="http://schemas.microsoft.com/office/drawing/2014/main" id="{ECA4594B-FB1D-92A7-4E6B-2C80E6583E3C}"/>
              </a:ext>
            </a:extLst>
          </p:cNvPr>
          <p:cNvPicPr>
            <a:picLocks noChangeAspect="1"/>
          </p:cNvPicPr>
          <p:nvPr/>
        </p:nvPicPr>
        <p:blipFill>
          <a:blip r:embed="rId4"/>
          <a:stretch>
            <a:fillRect/>
          </a:stretch>
        </p:blipFill>
        <p:spPr>
          <a:xfrm>
            <a:off x="114215" y="4087328"/>
            <a:ext cx="8411749" cy="1009791"/>
          </a:xfrm>
          <a:prstGeom prst="rect">
            <a:avLst/>
          </a:prstGeom>
        </p:spPr>
      </p:pic>
      <p:sp>
        <p:nvSpPr>
          <p:cNvPr id="20" name="TextBox 19">
            <a:extLst>
              <a:ext uri="{FF2B5EF4-FFF2-40B4-BE49-F238E27FC236}">
                <a16:creationId xmlns:a16="http://schemas.microsoft.com/office/drawing/2014/main" id="{81347887-D891-CEA2-C6C2-AE9DE448E91D}"/>
              </a:ext>
            </a:extLst>
          </p:cNvPr>
          <p:cNvSpPr txBox="1"/>
          <p:nvPr/>
        </p:nvSpPr>
        <p:spPr>
          <a:xfrm>
            <a:off x="542665" y="5094555"/>
            <a:ext cx="2793888" cy="453073"/>
          </a:xfrm>
          <a:prstGeom prst="rect">
            <a:avLst/>
          </a:prstGeom>
          <a:noFill/>
        </p:spPr>
        <p:txBody>
          <a:bodyPr wrap="square">
            <a:spAutoFit/>
          </a:bodyPr>
          <a:lstStyle/>
          <a:p>
            <a:pPr algn="l">
              <a:lnSpc>
                <a:spcPts val="2684"/>
              </a:lnSpc>
            </a:pPr>
            <a:r>
              <a:rPr lang="vi-VN" sz="3000" b="1" dirty="0">
                <a:solidFill>
                  <a:srgbClr val="000000"/>
                </a:solidFill>
                <a:latin typeface="Canva Sans"/>
                <a:ea typeface="Canva Sans"/>
                <a:cs typeface="Canva Sans"/>
                <a:sym typeface="Canva Sans"/>
              </a:rPr>
              <a:t>Can nhiễu:</a:t>
            </a:r>
          </a:p>
        </p:txBody>
      </p:sp>
      <p:pic>
        <p:nvPicPr>
          <p:cNvPr id="22" name="Picture 21">
            <a:extLst>
              <a:ext uri="{FF2B5EF4-FFF2-40B4-BE49-F238E27FC236}">
                <a16:creationId xmlns:a16="http://schemas.microsoft.com/office/drawing/2014/main" id="{C0ADC9FC-9B15-5724-606F-0533337FEBA3}"/>
              </a:ext>
            </a:extLst>
          </p:cNvPr>
          <p:cNvPicPr>
            <a:picLocks noChangeAspect="1"/>
          </p:cNvPicPr>
          <p:nvPr/>
        </p:nvPicPr>
        <p:blipFill>
          <a:blip r:embed="rId5"/>
          <a:stretch>
            <a:fillRect/>
          </a:stretch>
        </p:blipFill>
        <p:spPr>
          <a:xfrm>
            <a:off x="455579" y="5589028"/>
            <a:ext cx="4458322" cy="933580"/>
          </a:xfrm>
          <a:prstGeom prst="rect">
            <a:avLst/>
          </a:prstGeom>
        </p:spPr>
      </p:pic>
      <p:sp>
        <p:nvSpPr>
          <p:cNvPr id="23" name="TextBox 22">
            <a:extLst>
              <a:ext uri="{FF2B5EF4-FFF2-40B4-BE49-F238E27FC236}">
                <a16:creationId xmlns:a16="http://schemas.microsoft.com/office/drawing/2014/main" id="{64B2E725-C2A5-9912-90FC-DBAB7CFF8183}"/>
              </a:ext>
            </a:extLst>
          </p:cNvPr>
          <p:cNvSpPr txBox="1"/>
          <p:nvPr/>
        </p:nvSpPr>
        <p:spPr>
          <a:xfrm>
            <a:off x="612611" y="6651537"/>
            <a:ext cx="1514735" cy="451342"/>
          </a:xfrm>
          <a:prstGeom prst="rect">
            <a:avLst/>
          </a:prstGeom>
          <a:noFill/>
        </p:spPr>
        <p:txBody>
          <a:bodyPr wrap="square">
            <a:spAutoFit/>
          </a:bodyPr>
          <a:lstStyle/>
          <a:p>
            <a:pPr algn="l">
              <a:lnSpc>
                <a:spcPts val="2684"/>
              </a:lnSpc>
            </a:pPr>
            <a:r>
              <a:rPr lang="vi-VN" sz="3000" b="1" dirty="0">
                <a:solidFill>
                  <a:srgbClr val="000000"/>
                </a:solidFill>
                <a:latin typeface="Canva Sans"/>
                <a:ea typeface="Canva Sans"/>
                <a:cs typeface="Canva Sans"/>
                <a:sym typeface="Canva Sans"/>
              </a:rPr>
              <a:t>QoE:</a:t>
            </a:r>
          </a:p>
        </p:txBody>
      </p:sp>
      <p:pic>
        <p:nvPicPr>
          <p:cNvPr id="25" name="Picture 24">
            <a:extLst>
              <a:ext uri="{FF2B5EF4-FFF2-40B4-BE49-F238E27FC236}">
                <a16:creationId xmlns:a16="http://schemas.microsoft.com/office/drawing/2014/main" id="{98BCDDFE-D09E-96C2-4D8B-C9547E7E92BD}"/>
              </a:ext>
            </a:extLst>
          </p:cNvPr>
          <p:cNvPicPr>
            <a:picLocks noChangeAspect="1"/>
          </p:cNvPicPr>
          <p:nvPr/>
        </p:nvPicPr>
        <p:blipFill>
          <a:blip r:embed="rId6"/>
          <a:stretch>
            <a:fillRect/>
          </a:stretch>
        </p:blipFill>
        <p:spPr>
          <a:xfrm>
            <a:off x="480979" y="7097929"/>
            <a:ext cx="3839111" cy="990738"/>
          </a:xfrm>
          <a:prstGeom prst="rect">
            <a:avLst/>
          </a:prstGeom>
        </p:spPr>
      </p:pic>
      <p:pic>
        <p:nvPicPr>
          <p:cNvPr id="27" name="Picture 26">
            <a:extLst>
              <a:ext uri="{FF2B5EF4-FFF2-40B4-BE49-F238E27FC236}">
                <a16:creationId xmlns:a16="http://schemas.microsoft.com/office/drawing/2014/main" id="{7319DEEC-FF9F-BEB4-FD7C-F96E01BEB703}"/>
              </a:ext>
            </a:extLst>
          </p:cNvPr>
          <p:cNvPicPr>
            <a:picLocks noChangeAspect="1"/>
          </p:cNvPicPr>
          <p:nvPr/>
        </p:nvPicPr>
        <p:blipFill>
          <a:blip r:embed="rId7"/>
          <a:stretch>
            <a:fillRect/>
          </a:stretch>
        </p:blipFill>
        <p:spPr>
          <a:xfrm>
            <a:off x="297654" y="7998005"/>
            <a:ext cx="3038899" cy="1295581"/>
          </a:xfrm>
          <a:prstGeom prst="rect">
            <a:avLst/>
          </a:prstGeom>
        </p:spPr>
      </p:pic>
    </p:spTree>
    <p:extLst>
      <p:ext uri="{BB962C8B-B14F-4D97-AF65-F5344CB8AC3E}">
        <p14:creationId xmlns:p14="http://schemas.microsoft.com/office/powerpoint/2010/main" val="3905525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1843B-073D-D672-ABEE-B43D72D58C24}"/>
            </a:ext>
          </a:extLst>
        </p:cNvPr>
        <p:cNvGrpSpPr/>
        <p:nvPr/>
      </p:nvGrpSpPr>
      <p:grpSpPr>
        <a:xfrm>
          <a:off x="0" y="0"/>
          <a:ext cx="0" cy="0"/>
          <a:chOff x="0" y="0"/>
          <a:chExt cx="0" cy="0"/>
        </a:xfrm>
      </p:grpSpPr>
      <p:sp>
        <p:nvSpPr>
          <p:cNvPr id="31" name="Rectangle: Rounded Corners 30">
            <a:extLst>
              <a:ext uri="{FF2B5EF4-FFF2-40B4-BE49-F238E27FC236}">
                <a16:creationId xmlns:a16="http://schemas.microsoft.com/office/drawing/2014/main" id="{FCFA5461-6A84-AFDB-3BDA-7568C56EDD62}"/>
              </a:ext>
            </a:extLst>
          </p:cNvPr>
          <p:cNvSpPr/>
          <p:nvPr/>
        </p:nvSpPr>
        <p:spPr>
          <a:xfrm>
            <a:off x="10709165" y="4397308"/>
            <a:ext cx="2884226" cy="4841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5BAD492-2643-62F0-39AC-ABEA7F4E85AA}"/>
              </a:ext>
            </a:extLst>
          </p:cNvPr>
          <p:cNvSpPr/>
          <p:nvPr/>
        </p:nvSpPr>
        <p:spPr>
          <a:xfrm>
            <a:off x="265374" y="4479863"/>
            <a:ext cx="2884226" cy="4841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3">
            <a:extLst>
              <a:ext uri="{FF2B5EF4-FFF2-40B4-BE49-F238E27FC236}">
                <a16:creationId xmlns:a16="http://schemas.microsoft.com/office/drawing/2014/main" id="{1BFA74AE-4CE9-0D05-AD75-03EB0AE3F54B}"/>
              </a:ext>
            </a:extLst>
          </p:cNvPr>
          <p:cNvSpPr/>
          <p:nvPr/>
        </p:nvSpPr>
        <p:spPr>
          <a:xfrm>
            <a:off x="-934766" y="9609564"/>
            <a:ext cx="20157534" cy="822097"/>
          </a:xfrm>
          <a:custGeom>
            <a:avLst/>
            <a:gdLst/>
            <a:ahLst/>
            <a:cxnLst/>
            <a:rect l="l" t="t" r="r" b="b"/>
            <a:pathLst>
              <a:path w="20157534" h="822097">
                <a:moveTo>
                  <a:pt x="0" y="0"/>
                </a:moveTo>
                <a:lnTo>
                  <a:pt x="20157534" y="0"/>
                </a:lnTo>
                <a:lnTo>
                  <a:pt x="20157534" y="822097"/>
                </a:lnTo>
                <a:lnTo>
                  <a:pt x="0" y="822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a:extLst>
              <a:ext uri="{FF2B5EF4-FFF2-40B4-BE49-F238E27FC236}">
                <a16:creationId xmlns:a16="http://schemas.microsoft.com/office/drawing/2014/main" id="{4B7CC7E5-6756-4865-F4AB-64140D01214F}"/>
              </a:ext>
            </a:extLst>
          </p:cNvPr>
          <p:cNvGrpSpPr/>
          <p:nvPr/>
        </p:nvGrpSpPr>
        <p:grpSpPr>
          <a:xfrm>
            <a:off x="0" y="1028700"/>
            <a:ext cx="11653664" cy="750197"/>
            <a:chOff x="0" y="0"/>
            <a:chExt cx="3069278" cy="197583"/>
          </a:xfrm>
        </p:grpSpPr>
        <p:sp>
          <p:nvSpPr>
            <p:cNvPr id="5" name="Freeform 5">
              <a:extLst>
                <a:ext uri="{FF2B5EF4-FFF2-40B4-BE49-F238E27FC236}">
                  <a16:creationId xmlns:a16="http://schemas.microsoft.com/office/drawing/2014/main" id="{5B6F2C4A-E2A3-45E2-638B-D030DBFB0B70}"/>
                </a:ext>
              </a:extLst>
            </p:cNvPr>
            <p:cNvSpPr/>
            <p:nvPr/>
          </p:nvSpPr>
          <p:spPr>
            <a:xfrm>
              <a:off x="0" y="0"/>
              <a:ext cx="3069278" cy="197583"/>
            </a:xfrm>
            <a:custGeom>
              <a:avLst/>
              <a:gdLst/>
              <a:ahLst/>
              <a:cxnLst/>
              <a:rect l="l" t="t" r="r" b="b"/>
              <a:pathLst>
                <a:path w="3069278" h="197583">
                  <a:moveTo>
                    <a:pt x="2866078" y="0"/>
                  </a:moveTo>
                  <a:lnTo>
                    <a:pt x="0" y="0"/>
                  </a:lnTo>
                  <a:lnTo>
                    <a:pt x="0" y="197583"/>
                  </a:lnTo>
                  <a:lnTo>
                    <a:pt x="2866078" y="197583"/>
                  </a:lnTo>
                  <a:lnTo>
                    <a:pt x="3069278" y="98791"/>
                  </a:lnTo>
                  <a:lnTo>
                    <a:pt x="2866078" y="0"/>
                  </a:lnTo>
                  <a:close/>
                </a:path>
              </a:pathLst>
            </a:custGeom>
            <a:solidFill>
              <a:srgbClr val="043F86"/>
            </a:solidFill>
          </p:spPr>
        </p:sp>
        <p:sp>
          <p:nvSpPr>
            <p:cNvPr id="6" name="TextBox 6">
              <a:extLst>
                <a:ext uri="{FF2B5EF4-FFF2-40B4-BE49-F238E27FC236}">
                  <a16:creationId xmlns:a16="http://schemas.microsoft.com/office/drawing/2014/main" id="{DD9068E5-F975-2E00-7907-A86A86387DC9}"/>
                </a:ext>
              </a:extLst>
            </p:cNvPr>
            <p:cNvSpPr txBox="1"/>
            <p:nvPr/>
          </p:nvSpPr>
          <p:spPr>
            <a:xfrm>
              <a:off x="0" y="-38100"/>
              <a:ext cx="2954978" cy="235683"/>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E72D8EF5-34F7-E64D-6688-009BB4DD83F9}"/>
              </a:ext>
            </a:extLst>
          </p:cNvPr>
          <p:cNvSpPr txBox="1"/>
          <p:nvPr/>
        </p:nvSpPr>
        <p:spPr>
          <a:xfrm>
            <a:off x="520894" y="1075691"/>
            <a:ext cx="12036917" cy="587361"/>
          </a:xfrm>
          <a:prstGeom prst="rect">
            <a:avLst/>
          </a:prstGeom>
        </p:spPr>
        <p:txBody>
          <a:bodyPr lIns="0" tIns="0" rIns="0" bIns="0" rtlCol="0" anchor="t">
            <a:spAutoFit/>
          </a:bodyPr>
          <a:lstStyle/>
          <a:p>
            <a:pPr algn="just">
              <a:lnSpc>
                <a:spcPts val="4898"/>
              </a:lnSpc>
            </a:pPr>
            <a:r>
              <a:rPr lang="vi-VN" sz="3499" dirty="0">
                <a:solidFill>
                  <a:srgbClr val="FFFFFF"/>
                </a:solidFill>
                <a:latin typeface="Canva Sans"/>
                <a:ea typeface="Canva Sans"/>
                <a:cs typeface="Canva Sans"/>
                <a:sym typeface="Canva Sans"/>
              </a:rPr>
              <a:t>Bài toán tối ưu</a:t>
            </a:r>
            <a:endParaRPr lang="en-US" sz="3499" dirty="0">
              <a:solidFill>
                <a:srgbClr val="FFFFFF"/>
              </a:solidFill>
              <a:latin typeface="Canva Sans"/>
              <a:ea typeface="Canva Sans"/>
              <a:cs typeface="Canva Sans"/>
              <a:sym typeface="Canva Sans"/>
            </a:endParaRPr>
          </a:p>
        </p:txBody>
      </p:sp>
      <p:sp>
        <p:nvSpPr>
          <p:cNvPr id="10" name="TextBox 10">
            <a:extLst>
              <a:ext uri="{FF2B5EF4-FFF2-40B4-BE49-F238E27FC236}">
                <a16:creationId xmlns:a16="http://schemas.microsoft.com/office/drawing/2014/main" id="{DDF30DDE-F6A6-5119-F3AD-B87AA78C9B4A}"/>
              </a:ext>
            </a:extLst>
          </p:cNvPr>
          <p:cNvSpPr txBox="1"/>
          <p:nvPr/>
        </p:nvSpPr>
        <p:spPr>
          <a:xfrm>
            <a:off x="17706558" y="9776137"/>
            <a:ext cx="152400" cy="209550"/>
          </a:xfrm>
          <a:prstGeom prst="rect">
            <a:avLst/>
          </a:prstGeom>
        </p:spPr>
        <p:txBody>
          <a:bodyPr wrap="none"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3</a:t>
            </a:r>
          </a:p>
        </p:txBody>
      </p:sp>
      <p:sp>
        <p:nvSpPr>
          <p:cNvPr id="7" name="TextBox 7">
            <a:extLst>
              <a:ext uri="{FF2B5EF4-FFF2-40B4-BE49-F238E27FC236}">
                <a16:creationId xmlns:a16="http://schemas.microsoft.com/office/drawing/2014/main" id="{6C38B0EF-1707-8A18-508A-4CE305C1E45C}"/>
              </a:ext>
            </a:extLst>
          </p:cNvPr>
          <p:cNvSpPr txBox="1"/>
          <p:nvPr/>
        </p:nvSpPr>
        <p:spPr>
          <a:xfrm>
            <a:off x="520894" y="2274083"/>
            <a:ext cx="16928906" cy="365613"/>
          </a:xfrm>
          <a:prstGeom prst="rect">
            <a:avLst/>
          </a:prstGeom>
        </p:spPr>
        <p:txBody>
          <a:bodyPr wrap="square" lIns="0" tIns="0" rIns="0" bIns="0" rtlCol="0" anchor="t">
            <a:spAutoFit/>
          </a:bodyPr>
          <a:lstStyle/>
          <a:p>
            <a:pPr algn="l">
              <a:lnSpc>
                <a:spcPts val="2684"/>
              </a:lnSpc>
            </a:pPr>
            <a:r>
              <a:rPr lang="vi-VN" sz="3200" i="1" u="sng" dirty="0">
                <a:solidFill>
                  <a:srgbClr val="000000"/>
                </a:solidFill>
                <a:latin typeface="Canva Sans"/>
                <a:ea typeface="Canva Sans"/>
                <a:cs typeface="Canva Sans"/>
                <a:sym typeface="Canva Sans"/>
              </a:rPr>
              <a:t>Hàm PSNR </a:t>
            </a:r>
          </a:p>
        </p:txBody>
      </p:sp>
      <p:pic>
        <p:nvPicPr>
          <p:cNvPr id="14" name="Picture 13">
            <a:extLst>
              <a:ext uri="{FF2B5EF4-FFF2-40B4-BE49-F238E27FC236}">
                <a16:creationId xmlns:a16="http://schemas.microsoft.com/office/drawing/2014/main" id="{2F6BB446-4C13-BBB2-5247-808757853915}"/>
              </a:ext>
            </a:extLst>
          </p:cNvPr>
          <p:cNvPicPr>
            <a:picLocks noChangeAspect="1"/>
          </p:cNvPicPr>
          <p:nvPr/>
        </p:nvPicPr>
        <p:blipFill>
          <a:blip r:embed="rId4"/>
          <a:stretch>
            <a:fillRect/>
          </a:stretch>
        </p:blipFill>
        <p:spPr>
          <a:xfrm>
            <a:off x="918054" y="2725186"/>
            <a:ext cx="4887007" cy="847843"/>
          </a:xfrm>
          <a:prstGeom prst="rect">
            <a:avLst/>
          </a:prstGeom>
        </p:spPr>
      </p:pic>
      <p:sp>
        <p:nvSpPr>
          <p:cNvPr id="16" name="TextBox 15">
            <a:extLst>
              <a:ext uri="{FF2B5EF4-FFF2-40B4-BE49-F238E27FC236}">
                <a16:creationId xmlns:a16="http://schemas.microsoft.com/office/drawing/2014/main" id="{6E26201C-8313-3FB4-0B18-81AEA1BBC82B}"/>
              </a:ext>
            </a:extLst>
          </p:cNvPr>
          <p:cNvSpPr txBox="1"/>
          <p:nvPr/>
        </p:nvSpPr>
        <p:spPr>
          <a:xfrm>
            <a:off x="381000" y="3658519"/>
            <a:ext cx="4201886" cy="438582"/>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Khi đó hàm tổng quát là</a:t>
            </a:r>
          </a:p>
        </p:txBody>
      </p:sp>
      <p:pic>
        <p:nvPicPr>
          <p:cNvPr id="19" name="Picture 18">
            <a:extLst>
              <a:ext uri="{FF2B5EF4-FFF2-40B4-BE49-F238E27FC236}">
                <a16:creationId xmlns:a16="http://schemas.microsoft.com/office/drawing/2014/main" id="{F94EE101-3206-77C9-93FA-E351E299F0EE}"/>
              </a:ext>
            </a:extLst>
          </p:cNvPr>
          <p:cNvPicPr>
            <a:picLocks noChangeAspect="1"/>
          </p:cNvPicPr>
          <p:nvPr/>
        </p:nvPicPr>
        <p:blipFill>
          <a:blip r:embed="rId5"/>
          <a:stretch>
            <a:fillRect/>
          </a:stretch>
        </p:blipFill>
        <p:spPr>
          <a:xfrm>
            <a:off x="0" y="5159829"/>
            <a:ext cx="5372850" cy="1390844"/>
          </a:xfrm>
          <a:prstGeom prst="rect">
            <a:avLst/>
          </a:prstGeom>
        </p:spPr>
      </p:pic>
      <p:pic>
        <p:nvPicPr>
          <p:cNvPr id="24" name="Picture 23">
            <a:extLst>
              <a:ext uri="{FF2B5EF4-FFF2-40B4-BE49-F238E27FC236}">
                <a16:creationId xmlns:a16="http://schemas.microsoft.com/office/drawing/2014/main" id="{BF4F3FCE-1BFE-C0F1-C8C7-8002B02C6DAE}"/>
              </a:ext>
            </a:extLst>
          </p:cNvPr>
          <p:cNvPicPr>
            <a:picLocks noChangeAspect="1"/>
          </p:cNvPicPr>
          <p:nvPr/>
        </p:nvPicPr>
        <p:blipFill>
          <a:blip r:embed="rId6"/>
          <a:stretch>
            <a:fillRect/>
          </a:stretch>
        </p:blipFill>
        <p:spPr>
          <a:xfrm>
            <a:off x="381000" y="6382205"/>
            <a:ext cx="7723413" cy="1695759"/>
          </a:xfrm>
          <a:prstGeom prst="rect">
            <a:avLst/>
          </a:prstGeom>
        </p:spPr>
      </p:pic>
      <p:sp>
        <p:nvSpPr>
          <p:cNvPr id="26" name="TextBox 25">
            <a:extLst>
              <a:ext uri="{FF2B5EF4-FFF2-40B4-BE49-F238E27FC236}">
                <a16:creationId xmlns:a16="http://schemas.microsoft.com/office/drawing/2014/main" id="{4BE066E1-2439-AAB8-FF19-1462D72C1885}"/>
              </a:ext>
            </a:extLst>
          </p:cNvPr>
          <p:cNvSpPr txBox="1"/>
          <p:nvPr/>
        </p:nvSpPr>
        <p:spPr>
          <a:xfrm>
            <a:off x="265374" y="4553752"/>
            <a:ext cx="2895112" cy="438582"/>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1: Tối đa hóa PSNR</a:t>
            </a:r>
          </a:p>
        </p:txBody>
      </p:sp>
      <p:sp>
        <p:nvSpPr>
          <p:cNvPr id="29" name="TextBox 28">
            <a:extLst>
              <a:ext uri="{FF2B5EF4-FFF2-40B4-BE49-F238E27FC236}">
                <a16:creationId xmlns:a16="http://schemas.microsoft.com/office/drawing/2014/main" id="{E8FC0B90-5828-39B3-A346-CE8841B0CF85}"/>
              </a:ext>
            </a:extLst>
          </p:cNvPr>
          <p:cNvSpPr txBox="1"/>
          <p:nvPr/>
        </p:nvSpPr>
        <p:spPr>
          <a:xfrm>
            <a:off x="10709165" y="4442885"/>
            <a:ext cx="2895112" cy="438582"/>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2: Tối đa hóa QoE</a:t>
            </a:r>
          </a:p>
        </p:txBody>
      </p:sp>
      <p:pic>
        <p:nvPicPr>
          <p:cNvPr id="12" name="Picture 11">
            <a:extLst>
              <a:ext uri="{FF2B5EF4-FFF2-40B4-BE49-F238E27FC236}">
                <a16:creationId xmlns:a16="http://schemas.microsoft.com/office/drawing/2014/main" id="{0DB0A363-59D9-83D2-3D7E-45BDFA75759A}"/>
              </a:ext>
            </a:extLst>
          </p:cNvPr>
          <p:cNvPicPr>
            <a:picLocks noChangeAspect="1"/>
          </p:cNvPicPr>
          <p:nvPr/>
        </p:nvPicPr>
        <p:blipFill>
          <a:blip r:embed="rId7"/>
          <a:stretch>
            <a:fillRect/>
          </a:stretch>
        </p:blipFill>
        <p:spPr>
          <a:xfrm>
            <a:off x="8393227" y="5336375"/>
            <a:ext cx="9043849" cy="1107105"/>
          </a:xfrm>
          <a:prstGeom prst="rect">
            <a:avLst/>
          </a:prstGeom>
        </p:spPr>
      </p:pic>
      <p:pic>
        <p:nvPicPr>
          <p:cNvPr id="15" name="Picture 14">
            <a:extLst>
              <a:ext uri="{FF2B5EF4-FFF2-40B4-BE49-F238E27FC236}">
                <a16:creationId xmlns:a16="http://schemas.microsoft.com/office/drawing/2014/main" id="{9F0E47CA-F98E-AC80-4034-94C2AF6283F9}"/>
              </a:ext>
            </a:extLst>
          </p:cNvPr>
          <p:cNvPicPr>
            <a:picLocks noChangeAspect="1"/>
          </p:cNvPicPr>
          <p:nvPr/>
        </p:nvPicPr>
        <p:blipFill>
          <a:blip r:embed="rId8"/>
          <a:stretch>
            <a:fillRect/>
          </a:stretch>
        </p:blipFill>
        <p:spPr>
          <a:xfrm>
            <a:off x="8181317" y="6684656"/>
            <a:ext cx="6944694" cy="1371791"/>
          </a:xfrm>
          <a:prstGeom prst="rect">
            <a:avLst/>
          </a:prstGeom>
        </p:spPr>
      </p:pic>
      <p:sp>
        <p:nvSpPr>
          <p:cNvPr id="17" name="TextBox 16">
            <a:extLst>
              <a:ext uri="{FF2B5EF4-FFF2-40B4-BE49-F238E27FC236}">
                <a16:creationId xmlns:a16="http://schemas.microsoft.com/office/drawing/2014/main" id="{C9CA0354-E579-ED50-0B9C-EEC9167CAD4D}"/>
              </a:ext>
            </a:extLst>
          </p:cNvPr>
          <p:cNvSpPr txBox="1"/>
          <p:nvPr/>
        </p:nvSpPr>
        <p:spPr>
          <a:xfrm>
            <a:off x="520894" y="8099482"/>
            <a:ext cx="16547906" cy="1131079"/>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So sánh:</a:t>
            </a:r>
          </a:p>
          <a:p>
            <a:pPr marL="342900" indent="-342900" algn="l">
              <a:lnSpc>
                <a:spcPts val="2684"/>
              </a:lnSpc>
              <a:buFontTx/>
              <a:buChar char="-"/>
            </a:pPr>
            <a:r>
              <a:rPr lang="vi-VN" sz="2400" dirty="0">
                <a:solidFill>
                  <a:srgbClr val="000000"/>
                </a:solidFill>
                <a:latin typeface="Canva Sans"/>
                <a:ea typeface="Canva Sans"/>
                <a:cs typeface="Canva Sans"/>
                <a:sym typeface="Canva Sans"/>
              </a:rPr>
              <a:t>Với PSNR, UAV có xu hướng tiếp cận BS nhất có thể</a:t>
            </a:r>
          </a:p>
          <a:p>
            <a:pPr marL="342900" indent="-342900" algn="l">
              <a:lnSpc>
                <a:spcPts val="2684"/>
              </a:lnSpc>
              <a:buFontTx/>
              <a:buChar char="-"/>
            </a:pPr>
            <a:r>
              <a:rPr lang="vi-VN" sz="2400" dirty="0">
                <a:solidFill>
                  <a:srgbClr val="000000"/>
                </a:solidFill>
                <a:latin typeface="Canva Sans"/>
                <a:ea typeface="Canva Sans"/>
                <a:cs typeface="Canva Sans"/>
                <a:sym typeface="Canva Sans"/>
              </a:rPr>
              <a:t>NếVowis QoE, UAV có xu hướng cân bằng giữa quỹ đạo và công suất hơn </a:t>
            </a:r>
          </a:p>
        </p:txBody>
      </p:sp>
    </p:spTree>
    <p:extLst>
      <p:ext uri="{BB962C8B-B14F-4D97-AF65-F5344CB8AC3E}">
        <p14:creationId xmlns:p14="http://schemas.microsoft.com/office/powerpoint/2010/main" val="623361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8E171-A1DA-832E-A788-29280BEA391E}"/>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644D7CD1-B4AD-8A7B-12DC-6950DD3FE560}"/>
              </a:ext>
            </a:extLst>
          </p:cNvPr>
          <p:cNvSpPr/>
          <p:nvPr/>
        </p:nvSpPr>
        <p:spPr>
          <a:xfrm>
            <a:off x="-934766" y="9609564"/>
            <a:ext cx="20157534" cy="822097"/>
          </a:xfrm>
          <a:custGeom>
            <a:avLst/>
            <a:gdLst/>
            <a:ahLst/>
            <a:cxnLst/>
            <a:rect l="l" t="t" r="r" b="b"/>
            <a:pathLst>
              <a:path w="20157534" h="822097">
                <a:moveTo>
                  <a:pt x="0" y="0"/>
                </a:moveTo>
                <a:lnTo>
                  <a:pt x="20157534" y="0"/>
                </a:lnTo>
                <a:lnTo>
                  <a:pt x="20157534" y="822097"/>
                </a:lnTo>
                <a:lnTo>
                  <a:pt x="0" y="822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a:extLst>
              <a:ext uri="{FF2B5EF4-FFF2-40B4-BE49-F238E27FC236}">
                <a16:creationId xmlns:a16="http://schemas.microsoft.com/office/drawing/2014/main" id="{3F52F4CA-3079-57DD-ED71-F8BAEC18730E}"/>
              </a:ext>
            </a:extLst>
          </p:cNvPr>
          <p:cNvGrpSpPr/>
          <p:nvPr/>
        </p:nvGrpSpPr>
        <p:grpSpPr>
          <a:xfrm>
            <a:off x="0" y="1028700"/>
            <a:ext cx="11653664" cy="750197"/>
            <a:chOff x="0" y="0"/>
            <a:chExt cx="3069278" cy="197583"/>
          </a:xfrm>
        </p:grpSpPr>
        <p:sp>
          <p:nvSpPr>
            <p:cNvPr id="5" name="Freeform 5">
              <a:extLst>
                <a:ext uri="{FF2B5EF4-FFF2-40B4-BE49-F238E27FC236}">
                  <a16:creationId xmlns:a16="http://schemas.microsoft.com/office/drawing/2014/main" id="{47406E6B-002F-605B-AC94-003E546BE65D}"/>
                </a:ext>
              </a:extLst>
            </p:cNvPr>
            <p:cNvSpPr/>
            <p:nvPr/>
          </p:nvSpPr>
          <p:spPr>
            <a:xfrm>
              <a:off x="0" y="0"/>
              <a:ext cx="3069278" cy="197583"/>
            </a:xfrm>
            <a:custGeom>
              <a:avLst/>
              <a:gdLst/>
              <a:ahLst/>
              <a:cxnLst/>
              <a:rect l="l" t="t" r="r" b="b"/>
              <a:pathLst>
                <a:path w="3069278" h="197583">
                  <a:moveTo>
                    <a:pt x="2866078" y="0"/>
                  </a:moveTo>
                  <a:lnTo>
                    <a:pt x="0" y="0"/>
                  </a:lnTo>
                  <a:lnTo>
                    <a:pt x="0" y="197583"/>
                  </a:lnTo>
                  <a:lnTo>
                    <a:pt x="2866078" y="197583"/>
                  </a:lnTo>
                  <a:lnTo>
                    <a:pt x="3069278" y="98791"/>
                  </a:lnTo>
                  <a:lnTo>
                    <a:pt x="2866078" y="0"/>
                  </a:lnTo>
                  <a:close/>
                </a:path>
              </a:pathLst>
            </a:custGeom>
            <a:solidFill>
              <a:srgbClr val="043F86"/>
            </a:solidFill>
          </p:spPr>
        </p:sp>
        <p:sp>
          <p:nvSpPr>
            <p:cNvPr id="6" name="TextBox 6">
              <a:extLst>
                <a:ext uri="{FF2B5EF4-FFF2-40B4-BE49-F238E27FC236}">
                  <a16:creationId xmlns:a16="http://schemas.microsoft.com/office/drawing/2014/main" id="{34AF10CF-98B5-72F7-7782-C297419707AB}"/>
                </a:ext>
              </a:extLst>
            </p:cNvPr>
            <p:cNvSpPr txBox="1"/>
            <p:nvPr/>
          </p:nvSpPr>
          <p:spPr>
            <a:xfrm>
              <a:off x="0" y="-38100"/>
              <a:ext cx="2954978" cy="235683"/>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B9E32F31-2FB9-4665-80A0-1992D14F4E82}"/>
              </a:ext>
            </a:extLst>
          </p:cNvPr>
          <p:cNvSpPr txBox="1"/>
          <p:nvPr/>
        </p:nvSpPr>
        <p:spPr>
          <a:xfrm>
            <a:off x="520894" y="1075691"/>
            <a:ext cx="12036917" cy="587361"/>
          </a:xfrm>
          <a:prstGeom prst="rect">
            <a:avLst/>
          </a:prstGeom>
        </p:spPr>
        <p:txBody>
          <a:bodyPr lIns="0" tIns="0" rIns="0" bIns="0" rtlCol="0" anchor="t">
            <a:spAutoFit/>
          </a:bodyPr>
          <a:lstStyle/>
          <a:p>
            <a:pPr algn="just">
              <a:lnSpc>
                <a:spcPts val="4898"/>
              </a:lnSpc>
            </a:pPr>
            <a:r>
              <a:rPr lang="vi-VN" sz="3499" dirty="0">
                <a:solidFill>
                  <a:srgbClr val="FFFFFF"/>
                </a:solidFill>
                <a:latin typeface="Canva Sans"/>
                <a:ea typeface="Canva Sans"/>
                <a:cs typeface="Canva Sans"/>
                <a:sym typeface="Canva Sans"/>
              </a:rPr>
              <a:t>Bài toán tối ưu: BCD + SCA</a:t>
            </a:r>
            <a:endParaRPr lang="en-US" sz="3499" dirty="0">
              <a:solidFill>
                <a:srgbClr val="FFFFFF"/>
              </a:solidFill>
              <a:latin typeface="Canva Sans"/>
              <a:ea typeface="Canva Sans"/>
              <a:cs typeface="Canva Sans"/>
              <a:sym typeface="Canva Sans"/>
            </a:endParaRPr>
          </a:p>
        </p:txBody>
      </p:sp>
      <p:sp>
        <p:nvSpPr>
          <p:cNvPr id="9" name="TextBox 9">
            <a:extLst>
              <a:ext uri="{FF2B5EF4-FFF2-40B4-BE49-F238E27FC236}">
                <a16:creationId xmlns:a16="http://schemas.microsoft.com/office/drawing/2014/main" id="{90D883FC-4225-900E-798E-01155614052B}"/>
              </a:ext>
            </a:extLst>
          </p:cNvPr>
          <p:cNvSpPr txBox="1"/>
          <p:nvPr/>
        </p:nvSpPr>
        <p:spPr>
          <a:xfrm>
            <a:off x="239974" y="131256"/>
            <a:ext cx="13364303" cy="683873"/>
          </a:xfrm>
          <a:prstGeom prst="rect">
            <a:avLst/>
          </a:prstGeom>
        </p:spPr>
        <p:txBody>
          <a:bodyPr lIns="0" tIns="0" rIns="0" bIns="0" rtlCol="0" anchor="t">
            <a:spAutoFit/>
          </a:bodyPr>
          <a:lstStyle/>
          <a:p>
            <a:pPr algn="l">
              <a:lnSpc>
                <a:spcPts val="5490"/>
              </a:lnSpc>
            </a:pPr>
            <a:r>
              <a:rPr lang="en-US" sz="4499" b="1">
                <a:solidFill>
                  <a:srgbClr val="FDFDFE"/>
                </a:solidFill>
                <a:latin typeface="Canva Sans Bold"/>
                <a:ea typeface="Canva Sans Bold"/>
                <a:cs typeface="Canva Sans Bold"/>
                <a:sym typeface="Canva Sans Bold"/>
              </a:rPr>
              <a:t>PHẦN I: ƯỚC LƯỢNG TRẠNG THÁI ROBOT</a:t>
            </a:r>
          </a:p>
        </p:txBody>
      </p:sp>
      <p:sp>
        <p:nvSpPr>
          <p:cNvPr id="10" name="TextBox 10">
            <a:extLst>
              <a:ext uri="{FF2B5EF4-FFF2-40B4-BE49-F238E27FC236}">
                <a16:creationId xmlns:a16="http://schemas.microsoft.com/office/drawing/2014/main" id="{5AD77545-18DC-3653-75F8-7D966A0F2B49}"/>
              </a:ext>
            </a:extLst>
          </p:cNvPr>
          <p:cNvSpPr txBox="1"/>
          <p:nvPr/>
        </p:nvSpPr>
        <p:spPr>
          <a:xfrm>
            <a:off x="17706558" y="9776137"/>
            <a:ext cx="152400" cy="209550"/>
          </a:xfrm>
          <a:prstGeom prst="rect">
            <a:avLst/>
          </a:prstGeom>
        </p:spPr>
        <p:txBody>
          <a:bodyPr wrap="none"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3</a:t>
            </a:r>
          </a:p>
        </p:txBody>
      </p:sp>
      <p:grpSp>
        <p:nvGrpSpPr>
          <p:cNvPr id="35" name="Group 34">
            <a:extLst>
              <a:ext uri="{FF2B5EF4-FFF2-40B4-BE49-F238E27FC236}">
                <a16:creationId xmlns:a16="http://schemas.microsoft.com/office/drawing/2014/main" id="{94F81439-2574-3B64-EF27-D3921C8541BA}"/>
              </a:ext>
            </a:extLst>
          </p:cNvPr>
          <p:cNvGrpSpPr/>
          <p:nvPr/>
        </p:nvGrpSpPr>
        <p:grpSpPr>
          <a:xfrm>
            <a:off x="1676400" y="2114550"/>
            <a:ext cx="2971800" cy="1447800"/>
            <a:chOff x="5486400" y="2476500"/>
            <a:chExt cx="2971800" cy="1447800"/>
          </a:xfrm>
        </p:grpSpPr>
        <p:sp>
          <p:nvSpPr>
            <p:cNvPr id="11" name="Rectangle: Rounded Corners 10">
              <a:extLst>
                <a:ext uri="{FF2B5EF4-FFF2-40B4-BE49-F238E27FC236}">
                  <a16:creationId xmlns:a16="http://schemas.microsoft.com/office/drawing/2014/main" id="{18FD41D2-32B3-9E73-4352-3E29B1A837F7}"/>
                </a:ext>
              </a:extLst>
            </p:cNvPr>
            <p:cNvSpPr/>
            <p:nvPr/>
          </p:nvSpPr>
          <p:spPr>
            <a:xfrm>
              <a:off x="5486400" y="2476500"/>
              <a:ext cx="2971800" cy="14478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744BC7F-1B81-B875-3B2F-D23327AC8ED6}"/>
                </a:ext>
              </a:extLst>
            </p:cNvPr>
            <p:cNvSpPr txBox="1"/>
            <p:nvPr/>
          </p:nvSpPr>
          <p:spPr>
            <a:xfrm>
              <a:off x="6019800" y="2807985"/>
              <a:ext cx="2133600" cy="784830"/>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Khởi tạo giá trị q0, P0</a:t>
              </a:r>
            </a:p>
          </p:txBody>
        </p:sp>
      </p:grpSp>
      <p:cxnSp>
        <p:nvCxnSpPr>
          <p:cNvPr id="20" name="Straight Arrow Connector 19">
            <a:extLst>
              <a:ext uri="{FF2B5EF4-FFF2-40B4-BE49-F238E27FC236}">
                <a16:creationId xmlns:a16="http://schemas.microsoft.com/office/drawing/2014/main" id="{DAD1E04A-A8C0-5DCC-28B1-73C9D4A44098}"/>
              </a:ext>
            </a:extLst>
          </p:cNvPr>
          <p:cNvCxnSpPr>
            <a:cxnSpLocks/>
            <a:stCxn id="11" idx="2"/>
            <a:endCxn id="23" idx="0"/>
          </p:cNvCxnSpPr>
          <p:nvPr/>
        </p:nvCxnSpPr>
        <p:spPr>
          <a:xfrm>
            <a:off x="3162300" y="3562350"/>
            <a:ext cx="25400" cy="710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421D1896-56F2-32B3-B959-19FB9FFA6906}"/>
              </a:ext>
            </a:extLst>
          </p:cNvPr>
          <p:cNvGrpSpPr/>
          <p:nvPr/>
        </p:nvGrpSpPr>
        <p:grpSpPr>
          <a:xfrm>
            <a:off x="1701800" y="4272653"/>
            <a:ext cx="2971800" cy="1447800"/>
            <a:chOff x="5573486" y="5125357"/>
            <a:chExt cx="2971800" cy="1447800"/>
          </a:xfrm>
        </p:grpSpPr>
        <p:sp>
          <p:nvSpPr>
            <p:cNvPr id="23" name="Rectangle: Rounded Corners 22">
              <a:extLst>
                <a:ext uri="{FF2B5EF4-FFF2-40B4-BE49-F238E27FC236}">
                  <a16:creationId xmlns:a16="http://schemas.microsoft.com/office/drawing/2014/main" id="{FE16F372-BD58-46BC-B683-2999A0F22642}"/>
                </a:ext>
              </a:extLst>
            </p:cNvPr>
            <p:cNvSpPr/>
            <p:nvPr/>
          </p:nvSpPr>
          <p:spPr>
            <a:xfrm>
              <a:off x="5573486" y="5125357"/>
              <a:ext cx="2971800" cy="14478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15AA619-4CB9-545C-8235-39B3D9E33BD1}"/>
                </a:ext>
              </a:extLst>
            </p:cNvPr>
            <p:cNvSpPr txBox="1"/>
            <p:nvPr/>
          </p:nvSpPr>
          <p:spPr>
            <a:xfrm>
              <a:off x="5992586" y="5311556"/>
              <a:ext cx="2133600" cy="1131079"/>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Khởi tạo các hàm lồi xấp xỉ QoE/PSNR</a:t>
              </a:r>
            </a:p>
          </p:txBody>
        </p:sp>
      </p:grpSp>
      <p:cxnSp>
        <p:nvCxnSpPr>
          <p:cNvPr id="37" name="Straight Arrow Connector 36">
            <a:extLst>
              <a:ext uri="{FF2B5EF4-FFF2-40B4-BE49-F238E27FC236}">
                <a16:creationId xmlns:a16="http://schemas.microsoft.com/office/drawing/2014/main" id="{3C19447D-3A7F-7677-4234-F9DDA0D36EA9}"/>
              </a:ext>
            </a:extLst>
          </p:cNvPr>
          <p:cNvCxnSpPr>
            <a:cxnSpLocks/>
            <a:stCxn id="23" idx="2"/>
            <a:endCxn id="41" idx="0"/>
          </p:cNvCxnSpPr>
          <p:nvPr/>
        </p:nvCxnSpPr>
        <p:spPr>
          <a:xfrm flipH="1">
            <a:off x="3175000" y="5720453"/>
            <a:ext cx="12700" cy="542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A7E06BB9-3459-5F2C-E5C3-49F2806E4C9A}"/>
              </a:ext>
            </a:extLst>
          </p:cNvPr>
          <p:cNvGrpSpPr/>
          <p:nvPr/>
        </p:nvGrpSpPr>
        <p:grpSpPr>
          <a:xfrm>
            <a:off x="1689100" y="6262466"/>
            <a:ext cx="2971800" cy="1447800"/>
            <a:chOff x="5573486" y="5125357"/>
            <a:chExt cx="2971800" cy="1447800"/>
          </a:xfrm>
        </p:grpSpPr>
        <p:sp>
          <p:nvSpPr>
            <p:cNvPr id="41" name="Rectangle: Rounded Corners 40">
              <a:extLst>
                <a:ext uri="{FF2B5EF4-FFF2-40B4-BE49-F238E27FC236}">
                  <a16:creationId xmlns:a16="http://schemas.microsoft.com/office/drawing/2014/main" id="{C54FD649-16DB-86EE-15A4-CF3F26228779}"/>
                </a:ext>
              </a:extLst>
            </p:cNvPr>
            <p:cNvSpPr/>
            <p:nvPr/>
          </p:nvSpPr>
          <p:spPr>
            <a:xfrm>
              <a:off x="5573486" y="5125357"/>
              <a:ext cx="2971800" cy="14478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4F2F4979-F844-E951-12A9-D7BB26C98983}"/>
                </a:ext>
              </a:extLst>
            </p:cNvPr>
            <p:cNvSpPr txBox="1"/>
            <p:nvPr/>
          </p:nvSpPr>
          <p:spPr>
            <a:xfrm>
              <a:off x="6068161" y="5480354"/>
              <a:ext cx="2133600" cy="784830"/>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Cố định Q, Xấp xỉ P</a:t>
              </a:r>
            </a:p>
          </p:txBody>
        </p:sp>
      </p:grpSp>
      <p:grpSp>
        <p:nvGrpSpPr>
          <p:cNvPr id="50" name="Group 49">
            <a:extLst>
              <a:ext uri="{FF2B5EF4-FFF2-40B4-BE49-F238E27FC236}">
                <a16:creationId xmlns:a16="http://schemas.microsoft.com/office/drawing/2014/main" id="{0A4F84B3-44AD-CCA6-97D2-4BEDB8195BA9}"/>
              </a:ext>
            </a:extLst>
          </p:cNvPr>
          <p:cNvGrpSpPr/>
          <p:nvPr/>
        </p:nvGrpSpPr>
        <p:grpSpPr>
          <a:xfrm>
            <a:off x="5790575" y="6262466"/>
            <a:ext cx="2971800" cy="1447800"/>
            <a:chOff x="5573486" y="5125357"/>
            <a:chExt cx="2971800" cy="1447800"/>
          </a:xfrm>
        </p:grpSpPr>
        <p:sp>
          <p:nvSpPr>
            <p:cNvPr id="51" name="Rectangle: Rounded Corners 50">
              <a:extLst>
                <a:ext uri="{FF2B5EF4-FFF2-40B4-BE49-F238E27FC236}">
                  <a16:creationId xmlns:a16="http://schemas.microsoft.com/office/drawing/2014/main" id="{D3994378-1200-FD59-700F-B6ACD7A2F2E3}"/>
                </a:ext>
              </a:extLst>
            </p:cNvPr>
            <p:cNvSpPr/>
            <p:nvPr/>
          </p:nvSpPr>
          <p:spPr>
            <a:xfrm>
              <a:off x="5573486" y="5125357"/>
              <a:ext cx="2971800" cy="14478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8FF200BA-06C8-DD4B-FDA0-EA54E71C483D}"/>
                </a:ext>
              </a:extLst>
            </p:cNvPr>
            <p:cNvSpPr txBox="1"/>
            <p:nvPr/>
          </p:nvSpPr>
          <p:spPr>
            <a:xfrm>
              <a:off x="5992586" y="5311556"/>
              <a:ext cx="2364014" cy="1131079"/>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Nếu Q[n]-Q[n-1] &lt; a, P[n]-P[n-1] &lt; b</a:t>
              </a:r>
            </a:p>
          </p:txBody>
        </p:sp>
      </p:grpSp>
      <p:cxnSp>
        <p:nvCxnSpPr>
          <p:cNvPr id="53" name="Straight Arrow Connector 52">
            <a:extLst>
              <a:ext uri="{FF2B5EF4-FFF2-40B4-BE49-F238E27FC236}">
                <a16:creationId xmlns:a16="http://schemas.microsoft.com/office/drawing/2014/main" id="{DC211D7A-B3D1-AE35-9C5A-2B08432B1FBD}"/>
              </a:ext>
            </a:extLst>
          </p:cNvPr>
          <p:cNvCxnSpPr>
            <a:cxnSpLocks/>
            <a:stCxn id="41" idx="3"/>
            <a:endCxn id="51" idx="1"/>
          </p:cNvCxnSpPr>
          <p:nvPr/>
        </p:nvCxnSpPr>
        <p:spPr>
          <a:xfrm>
            <a:off x="4660900" y="6986366"/>
            <a:ext cx="11296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0AFADD80-AD5C-ED7C-1213-CE3F68101E20}"/>
              </a:ext>
            </a:extLst>
          </p:cNvPr>
          <p:cNvCxnSpPr>
            <a:cxnSpLocks/>
            <a:stCxn id="51" idx="0"/>
            <a:endCxn id="23" idx="3"/>
          </p:cNvCxnSpPr>
          <p:nvPr/>
        </p:nvCxnSpPr>
        <p:spPr>
          <a:xfrm rot="16200000" flipV="1">
            <a:off x="5342082" y="4328072"/>
            <a:ext cx="1265913" cy="260287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92D81610-E926-AA82-A359-F6838E58A748}"/>
              </a:ext>
            </a:extLst>
          </p:cNvPr>
          <p:cNvSpPr txBox="1"/>
          <p:nvPr/>
        </p:nvSpPr>
        <p:spPr>
          <a:xfrm>
            <a:off x="7258332" y="5451353"/>
            <a:ext cx="2133600" cy="438582"/>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không</a:t>
            </a:r>
          </a:p>
        </p:txBody>
      </p:sp>
      <p:grpSp>
        <p:nvGrpSpPr>
          <p:cNvPr id="61" name="Group 60">
            <a:extLst>
              <a:ext uri="{FF2B5EF4-FFF2-40B4-BE49-F238E27FC236}">
                <a16:creationId xmlns:a16="http://schemas.microsoft.com/office/drawing/2014/main" id="{4AE2CAEC-FD98-51AC-A52A-4403CB16DC5B}"/>
              </a:ext>
            </a:extLst>
          </p:cNvPr>
          <p:cNvGrpSpPr/>
          <p:nvPr/>
        </p:nvGrpSpPr>
        <p:grpSpPr>
          <a:xfrm>
            <a:off x="10287000" y="6285978"/>
            <a:ext cx="2971800" cy="1447800"/>
            <a:chOff x="5573486" y="5125357"/>
            <a:chExt cx="2971800" cy="1447800"/>
          </a:xfrm>
        </p:grpSpPr>
        <p:sp>
          <p:nvSpPr>
            <p:cNvPr id="62" name="Rectangle: Rounded Corners 61">
              <a:extLst>
                <a:ext uri="{FF2B5EF4-FFF2-40B4-BE49-F238E27FC236}">
                  <a16:creationId xmlns:a16="http://schemas.microsoft.com/office/drawing/2014/main" id="{A3B138B9-4094-E18B-913E-56A2712B812B}"/>
                </a:ext>
              </a:extLst>
            </p:cNvPr>
            <p:cNvSpPr/>
            <p:nvPr/>
          </p:nvSpPr>
          <p:spPr>
            <a:xfrm>
              <a:off x="5573486" y="5125357"/>
              <a:ext cx="2971800" cy="14478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3EC34BA2-E3C6-9D1B-A7C6-020B2FEFAB11}"/>
                </a:ext>
              </a:extLst>
            </p:cNvPr>
            <p:cNvSpPr txBox="1"/>
            <p:nvPr/>
          </p:nvSpPr>
          <p:spPr>
            <a:xfrm>
              <a:off x="5992586" y="5311556"/>
              <a:ext cx="2364014" cy="1131079"/>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Thuật toán hội tụ với Q[k], P[k]</a:t>
              </a:r>
            </a:p>
          </p:txBody>
        </p:sp>
      </p:grpSp>
      <p:cxnSp>
        <p:nvCxnSpPr>
          <p:cNvPr id="64" name="Straight Arrow Connector 63">
            <a:extLst>
              <a:ext uri="{FF2B5EF4-FFF2-40B4-BE49-F238E27FC236}">
                <a16:creationId xmlns:a16="http://schemas.microsoft.com/office/drawing/2014/main" id="{637FDDC3-66B2-EFEF-4D9A-ED4E4E4710CA}"/>
              </a:ext>
            </a:extLst>
          </p:cNvPr>
          <p:cNvCxnSpPr>
            <a:cxnSpLocks/>
            <a:stCxn id="51" idx="3"/>
            <a:endCxn id="62" idx="1"/>
          </p:cNvCxnSpPr>
          <p:nvPr/>
        </p:nvCxnSpPr>
        <p:spPr>
          <a:xfrm>
            <a:off x="8762375" y="6986366"/>
            <a:ext cx="1524625" cy="23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E1F874C7-22A1-878A-7D1C-DED7CEE3F2E9}"/>
              </a:ext>
            </a:extLst>
          </p:cNvPr>
          <p:cNvSpPr txBox="1"/>
          <p:nvPr/>
        </p:nvSpPr>
        <p:spPr>
          <a:xfrm>
            <a:off x="9063547" y="6614582"/>
            <a:ext cx="2364014" cy="438582"/>
          </a:xfrm>
          <a:prstGeom prst="rect">
            <a:avLst/>
          </a:prstGeom>
          <a:noFill/>
        </p:spPr>
        <p:txBody>
          <a:bodyPr wrap="square">
            <a:spAutoFit/>
          </a:bodyPr>
          <a:lstStyle/>
          <a:p>
            <a:pPr algn="l">
              <a:lnSpc>
                <a:spcPts val="2684"/>
              </a:lnSpc>
            </a:pPr>
            <a:r>
              <a:rPr lang="vi-VN" sz="2400" dirty="0">
                <a:solidFill>
                  <a:srgbClr val="000000"/>
                </a:solidFill>
                <a:latin typeface="Canva Sans"/>
                <a:ea typeface="Canva Sans"/>
                <a:cs typeface="Canva Sans"/>
                <a:sym typeface="Canva Sans"/>
              </a:rPr>
              <a:t>có</a:t>
            </a:r>
          </a:p>
        </p:txBody>
      </p:sp>
      <p:sp>
        <p:nvSpPr>
          <p:cNvPr id="68" name="TextBox 67">
            <a:extLst>
              <a:ext uri="{FF2B5EF4-FFF2-40B4-BE49-F238E27FC236}">
                <a16:creationId xmlns:a16="http://schemas.microsoft.com/office/drawing/2014/main" id="{8FDC2450-BC17-2622-53D3-4C2C5DE2E634}"/>
              </a:ext>
            </a:extLst>
          </p:cNvPr>
          <p:cNvSpPr txBox="1"/>
          <p:nvPr/>
        </p:nvSpPr>
        <p:spPr>
          <a:xfrm>
            <a:off x="11888107" y="2277896"/>
            <a:ext cx="5002892" cy="784830"/>
          </a:xfrm>
          <a:prstGeom prst="rect">
            <a:avLst/>
          </a:prstGeom>
          <a:noFill/>
        </p:spPr>
        <p:txBody>
          <a:bodyPr wrap="square">
            <a:spAutoFit/>
          </a:bodyPr>
          <a:lstStyle/>
          <a:p>
            <a:pPr algn="l">
              <a:lnSpc>
                <a:spcPts val="2684"/>
              </a:lnSpc>
            </a:pPr>
            <a:r>
              <a:rPr lang="vi-VN" sz="2400" dirty="0">
                <a:solidFill>
                  <a:srgbClr val="FF0000"/>
                </a:solidFill>
                <a:latin typeface="Canva Sans"/>
                <a:ea typeface="Canva Sans"/>
                <a:cs typeface="Canva Sans"/>
                <a:sym typeface="Canva Sans"/>
              </a:rPr>
              <a:t>Chú ý: </a:t>
            </a:r>
            <a:r>
              <a:rPr lang="vi-VN" sz="2400" dirty="0">
                <a:solidFill>
                  <a:srgbClr val="000000"/>
                </a:solidFill>
                <a:latin typeface="Canva Sans"/>
                <a:ea typeface="Canva Sans"/>
                <a:cs typeface="Canva Sans"/>
                <a:sym typeface="Canva Sans"/>
              </a:rPr>
              <a:t>Hàm xấp xỉ lồi thường là xấp xỉ Taylor bậc 1</a:t>
            </a:r>
          </a:p>
        </p:txBody>
      </p:sp>
      <p:sp>
        <p:nvSpPr>
          <p:cNvPr id="69" name="TextBox 68">
            <a:extLst>
              <a:ext uri="{FF2B5EF4-FFF2-40B4-BE49-F238E27FC236}">
                <a16:creationId xmlns:a16="http://schemas.microsoft.com/office/drawing/2014/main" id="{9D4522DC-E31C-ADF8-A8E1-E14A6431C0EB}"/>
              </a:ext>
            </a:extLst>
          </p:cNvPr>
          <p:cNvSpPr txBox="1"/>
          <p:nvPr/>
        </p:nvSpPr>
        <p:spPr>
          <a:xfrm>
            <a:off x="11916682" y="3487823"/>
            <a:ext cx="5002892" cy="784830"/>
          </a:xfrm>
          <a:prstGeom prst="rect">
            <a:avLst/>
          </a:prstGeom>
          <a:noFill/>
        </p:spPr>
        <p:txBody>
          <a:bodyPr wrap="square">
            <a:spAutoFit/>
          </a:bodyPr>
          <a:lstStyle/>
          <a:p>
            <a:pPr algn="l">
              <a:lnSpc>
                <a:spcPts val="2684"/>
              </a:lnSpc>
            </a:pPr>
            <a:r>
              <a:rPr lang="vi-VN" sz="2400" dirty="0">
                <a:solidFill>
                  <a:srgbClr val="FF0000"/>
                </a:solidFill>
                <a:latin typeface="Canva Sans"/>
                <a:ea typeface="Canva Sans"/>
                <a:cs typeface="Canva Sans"/>
                <a:sym typeface="Canva Sans"/>
              </a:rPr>
              <a:t>Mô phỏng: </a:t>
            </a:r>
            <a:r>
              <a:rPr lang="vi-VN" sz="2400" dirty="0">
                <a:latin typeface="Canva Sans"/>
                <a:ea typeface="Canva Sans"/>
                <a:cs typeface="Canva Sans"/>
                <a:sym typeface="Canva Sans"/>
              </a:rPr>
              <a:t>Python/Matlab + CVXPY/CVX</a:t>
            </a:r>
            <a:endParaRPr lang="vi-VN" sz="2400" dirty="0">
              <a:solidFill>
                <a:srgbClr val="000000"/>
              </a:solidFill>
              <a:latin typeface="Canva Sans"/>
              <a:ea typeface="Canva Sans"/>
              <a:cs typeface="Canva Sans"/>
              <a:sym typeface="Canva Sans"/>
            </a:endParaRPr>
          </a:p>
        </p:txBody>
      </p:sp>
    </p:spTree>
    <p:extLst>
      <p:ext uri="{BB962C8B-B14F-4D97-AF65-F5344CB8AC3E}">
        <p14:creationId xmlns:p14="http://schemas.microsoft.com/office/powerpoint/2010/main" val="2698373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7AD91-C49B-9EA3-591E-CCF95865822B}"/>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6C006FB0-AFA2-0950-4BFE-7213B807D60E}"/>
              </a:ext>
            </a:extLst>
          </p:cNvPr>
          <p:cNvSpPr/>
          <p:nvPr/>
        </p:nvSpPr>
        <p:spPr>
          <a:xfrm>
            <a:off x="-934766" y="9609564"/>
            <a:ext cx="20157534" cy="822097"/>
          </a:xfrm>
          <a:custGeom>
            <a:avLst/>
            <a:gdLst/>
            <a:ahLst/>
            <a:cxnLst/>
            <a:rect l="l" t="t" r="r" b="b"/>
            <a:pathLst>
              <a:path w="20157534" h="822097">
                <a:moveTo>
                  <a:pt x="0" y="0"/>
                </a:moveTo>
                <a:lnTo>
                  <a:pt x="20157534" y="0"/>
                </a:lnTo>
                <a:lnTo>
                  <a:pt x="20157534" y="822097"/>
                </a:lnTo>
                <a:lnTo>
                  <a:pt x="0" y="8220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a:extLst>
              <a:ext uri="{FF2B5EF4-FFF2-40B4-BE49-F238E27FC236}">
                <a16:creationId xmlns:a16="http://schemas.microsoft.com/office/drawing/2014/main" id="{235A5798-94F9-2E57-902E-115CB4F3ECE7}"/>
              </a:ext>
            </a:extLst>
          </p:cNvPr>
          <p:cNvGrpSpPr/>
          <p:nvPr/>
        </p:nvGrpSpPr>
        <p:grpSpPr>
          <a:xfrm>
            <a:off x="0" y="1028700"/>
            <a:ext cx="11653664" cy="750197"/>
            <a:chOff x="0" y="0"/>
            <a:chExt cx="3069278" cy="197583"/>
          </a:xfrm>
        </p:grpSpPr>
        <p:sp>
          <p:nvSpPr>
            <p:cNvPr id="5" name="Freeform 5">
              <a:extLst>
                <a:ext uri="{FF2B5EF4-FFF2-40B4-BE49-F238E27FC236}">
                  <a16:creationId xmlns:a16="http://schemas.microsoft.com/office/drawing/2014/main" id="{5D652644-0CDA-72CB-57E7-48A9308CCF0E}"/>
                </a:ext>
              </a:extLst>
            </p:cNvPr>
            <p:cNvSpPr/>
            <p:nvPr/>
          </p:nvSpPr>
          <p:spPr>
            <a:xfrm>
              <a:off x="0" y="0"/>
              <a:ext cx="3069278" cy="197583"/>
            </a:xfrm>
            <a:custGeom>
              <a:avLst/>
              <a:gdLst/>
              <a:ahLst/>
              <a:cxnLst/>
              <a:rect l="l" t="t" r="r" b="b"/>
              <a:pathLst>
                <a:path w="3069278" h="197583">
                  <a:moveTo>
                    <a:pt x="2866078" y="0"/>
                  </a:moveTo>
                  <a:lnTo>
                    <a:pt x="0" y="0"/>
                  </a:lnTo>
                  <a:lnTo>
                    <a:pt x="0" y="197583"/>
                  </a:lnTo>
                  <a:lnTo>
                    <a:pt x="2866078" y="197583"/>
                  </a:lnTo>
                  <a:lnTo>
                    <a:pt x="3069278" y="98791"/>
                  </a:lnTo>
                  <a:lnTo>
                    <a:pt x="2866078" y="0"/>
                  </a:lnTo>
                  <a:close/>
                </a:path>
              </a:pathLst>
            </a:custGeom>
            <a:solidFill>
              <a:srgbClr val="043F86"/>
            </a:solidFill>
          </p:spPr>
        </p:sp>
        <p:sp>
          <p:nvSpPr>
            <p:cNvPr id="6" name="TextBox 6">
              <a:extLst>
                <a:ext uri="{FF2B5EF4-FFF2-40B4-BE49-F238E27FC236}">
                  <a16:creationId xmlns:a16="http://schemas.microsoft.com/office/drawing/2014/main" id="{01075707-04A9-F0AE-CBBF-CA8D72DA5FD7}"/>
                </a:ext>
              </a:extLst>
            </p:cNvPr>
            <p:cNvSpPr txBox="1"/>
            <p:nvPr/>
          </p:nvSpPr>
          <p:spPr>
            <a:xfrm>
              <a:off x="0" y="-38100"/>
              <a:ext cx="2954978" cy="235683"/>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E1D8D457-3D2A-103C-B4CD-A992BA5CBA13}"/>
              </a:ext>
            </a:extLst>
          </p:cNvPr>
          <p:cNvSpPr txBox="1"/>
          <p:nvPr/>
        </p:nvSpPr>
        <p:spPr>
          <a:xfrm>
            <a:off x="520894" y="1075691"/>
            <a:ext cx="12036917" cy="587361"/>
          </a:xfrm>
          <a:prstGeom prst="rect">
            <a:avLst/>
          </a:prstGeom>
        </p:spPr>
        <p:txBody>
          <a:bodyPr lIns="0" tIns="0" rIns="0" bIns="0" rtlCol="0" anchor="t">
            <a:spAutoFit/>
          </a:bodyPr>
          <a:lstStyle/>
          <a:p>
            <a:pPr algn="just">
              <a:lnSpc>
                <a:spcPts val="4898"/>
              </a:lnSpc>
            </a:pPr>
            <a:r>
              <a:rPr lang="vi-VN" sz="3499" dirty="0">
                <a:solidFill>
                  <a:srgbClr val="FFFFFF"/>
                </a:solidFill>
                <a:latin typeface="Canva Sans"/>
                <a:ea typeface="Canva Sans"/>
                <a:cs typeface="Canva Sans"/>
                <a:sym typeface="Canva Sans"/>
              </a:rPr>
              <a:t>Tham khảo</a:t>
            </a:r>
            <a:endParaRPr lang="en-US" sz="3499" dirty="0">
              <a:solidFill>
                <a:srgbClr val="FFFFFF"/>
              </a:solidFill>
              <a:latin typeface="Canva Sans"/>
              <a:ea typeface="Canva Sans"/>
              <a:cs typeface="Canva Sans"/>
              <a:sym typeface="Canva Sans"/>
            </a:endParaRPr>
          </a:p>
        </p:txBody>
      </p:sp>
      <p:sp>
        <p:nvSpPr>
          <p:cNvPr id="9" name="TextBox 9">
            <a:extLst>
              <a:ext uri="{FF2B5EF4-FFF2-40B4-BE49-F238E27FC236}">
                <a16:creationId xmlns:a16="http://schemas.microsoft.com/office/drawing/2014/main" id="{B96B045C-B323-98F8-C95C-EEBCC436B412}"/>
              </a:ext>
            </a:extLst>
          </p:cNvPr>
          <p:cNvSpPr txBox="1"/>
          <p:nvPr/>
        </p:nvSpPr>
        <p:spPr>
          <a:xfrm>
            <a:off x="239974" y="131256"/>
            <a:ext cx="13364303" cy="683873"/>
          </a:xfrm>
          <a:prstGeom prst="rect">
            <a:avLst/>
          </a:prstGeom>
        </p:spPr>
        <p:txBody>
          <a:bodyPr lIns="0" tIns="0" rIns="0" bIns="0" rtlCol="0" anchor="t">
            <a:spAutoFit/>
          </a:bodyPr>
          <a:lstStyle/>
          <a:p>
            <a:pPr algn="l">
              <a:lnSpc>
                <a:spcPts val="5490"/>
              </a:lnSpc>
            </a:pPr>
            <a:r>
              <a:rPr lang="en-US" sz="4499" b="1">
                <a:solidFill>
                  <a:srgbClr val="FDFDFE"/>
                </a:solidFill>
                <a:latin typeface="Canva Sans Bold"/>
                <a:ea typeface="Canva Sans Bold"/>
                <a:cs typeface="Canva Sans Bold"/>
                <a:sym typeface="Canva Sans Bold"/>
              </a:rPr>
              <a:t>PHẦN I: ƯỚC LƯỢNG TRẠNG THÁI ROBOT</a:t>
            </a:r>
          </a:p>
        </p:txBody>
      </p:sp>
      <p:sp>
        <p:nvSpPr>
          <p:cNvPr id="10" name="TextBox 10">
            <a:extLst>
              <a:ext uri="{FF2B5EF4-FFF2-40B4-BE49-F238E27FC236}">
                <a16:creationId xmlns:a16="http://schemas.microsoft.com/office/drawing/2014/main" id="{DEC909B1-C05F-1702-1D19-2E06406E1314}"/>
              </a:ext>
            </a:extLst>
          </p:cNvPr>
          <p:cNvSpPr txBox="1"/>
          <p:nvPr/>
        </p:nvSpPr>
        <p:spPr>
          <a:xfrm>
            <a:off x="17706558" y="9776137"/>
            <a:ext cx="152400" cy="209550"/>
          </a:xfrm>
          <a:prstGeom prst="rect">
            <a:avLst/>
          </a:prstGeom>
        </p:spPr>
        <p:txBody>
          <a:bodyPr wrap="none"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3</a:t>
            </a:r>
          </a:p>
        </p:txBody>
      </p:sp>
      <p:graphicFrame>
        <p:nvGraphicFramePr>
          <p:cNvPr id="11" name="Table 10">
            <a:extLst>
              <a:ext uri="{FF2B5EF4-FFF2-40B4-BE49-F238E27FC236}">
                <a16:creationId xmlns:a16="http://schemas.microsoft.com/office/drawing/2014/main" id="{8D86E31E-AEF9-2568-C4DD-660399C3E3FA}"/>
              </a:ext>
            </a:extLst>
          </p:cNvPr>
          <p:cNvGraphicFramePr>
            <a:graphicFrameLocks noGrp="1"/>
          </p:cNvGraphicFramePr>
          <p:nvPr>
            <p:extLst>
              <p:ext uri="{D42A27DB-BD31-4B8C-83A1-F6EECF244321}">
                <p14:modId xmlns:p14="http://schemas.microsoft.com/office/powerpoint/2010/main" val="3098600540"/>
              </p:ext>
            </p:extLst>
          </p:nvPr>
        </p:nvGraphicFramePr>
        <p:xfrm>
          <a:off x="2895600" y="2991336"/>
          <a:ext cx="12192000" cy="34798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360226068"/>
                    </a:ext>
                  </a:extLst>
                </a:gridCol>
                <a:gridCol w="3048000">
                  <a:extLst>
                    <a:ext uri="{9D8B030D-6E8A-4147-A177-3AD203B41FA5}">
                      <a16:colId xmlns:a16="http://schemas.microsoft.com/office/drawing/2014/main" val="967271333"/>
                    </a:ext>
                  </a:extLst>
                </a:gridCol>
                <a:gridCol w="1143000">
                  <a:extLst>
                    <a:ext uri="{9D8B030D-6E8A-4147-A177-3AD203B41FA5}">
                      <a16:colId xmlns:a16="http://schemas.microsoft.com/office/drawing/2014/main" val="1527481985"/>
                    </a:ext>
                  </a:extLst>
                </a:gridCol>
                <a:gridCol w="4953000">
                  <a:extLst>
                    <a:ext uri="{9D8B030D-6E8A-4147-A177-3AD203B41FA5}">
                      <a16:colId xmlns:a16="http://schemas.microsoft.com/office/drawing/2014/main" val="258078854"/>
                    </a:ext>
                  </a:extLst>
                </a:gridCol>
              </a:tblGrid>
              <a:tr h="370840">
                <a:tc>
                  <a:txBody>
                    <a:bodyPr/>
                    <a:lstStyle/>
                    <a:p>
                      <a:r>
                        <a:rPr lang="vi-VN" dirty="0"/>
                        <a:t>Thứ tự ưu tiên</a:t>
                      </a:r>
                      <a:endParaRPr lang="en-US" dirty="0"/>
                    </a:p>
                  </a:txBody>
                  <a:tcPr/>
                </a:tc>
                <a:tc>
                  <a:txBody>
                    <a:bodyPr/>
                    <a:lstStyle/>
                    <a:p>
                      <a:r>
                        <a:rPr lang="vi-VN" dirty="0"/>
                        <a:t>Nơi đăng </a:t>
                      </a:r>
                      <a:endParaRPr lang="en-US" dirty="0"/>
                    </a:p>
                  </a:txBody>
                  <a:tcPr/>
                </a:tc>
                <a:tc>
                  <a:txBody>
                    <a:bodyPr/>
                    <a:lstStyle/>
                    <a:p>
                      <a:r>
                        <a:rPr lang="vi-VN" dirty="0"/>
                        <a:t>Năm</a:t>
                      </a:r>
                      <a:endParaRPr lang="en-US" dirty="0"/>
                    </a:p>
                  </a:txBody>
                  <a:tcPr/>
                </a:tc>
                <a:tc>
                  <a:txBody>
                    <a:bodyPr/>
                    <a:lstStyle/>
                    <a:p>
                      <a:r>
                        <a:rPr lang="vi-VN" dirty="0"/>
                        <a:t>Tên bài</a:t>
                      </a:r>
                      <a:endParaRPr lang="en-US" dirty="0"/>
                    </a:p>
                  </a:txBody>
                  <a:tcPr/>
                </a:tc>
                <a:extLst>
                  <a:ext uri="{0D108BD9-81ED-4DB2-BD59-A6C34878D82A}">
                    <a16:rowId xmlns:a16="http://schemas.microsoft.com/office/drawing/2014/main" val="1384766806"/>
                  </a:ext>
                </a:extLst>
              </a:tr>
              <a:tr h="370840">
                <a:tc>
                  <a:txBody>
                    <a:bodyPr/>
                    <a:lstStyle/>
                    <a:p>
                      <a:r>
                        <a:rPr lang="vi-VN"/>
                        <a:t>1</a:t>
                      </a:r>
                      <a:endParaRPr lang="en-US" dirty="0"/>
                    </a:p>
                  </a:txBody>
                  <a:tcPr/>
                </a:tc>
                <a:tc>
                  <a:txBody>
                    <a:bodyPr/>
                    <a:lstStyle/>
                    <a:p>
                      <a:r>
                        <a:rPr lang="en-US" dirty="0"/>
                        <a:t>IEEE Access</a:t>
                      </a:r>
                      <a:endParaRPr lang="en-US" b="0" dirty="0"/>
                    </a:p>
                  </a:txBody>
                  <a:tcPr/>
                </a:tc>
                <a:tc>
                  <a:txBody>
                    <a:bodyPr/>
                    <a:lstStyle/>
                    <a:p>
                      <a:r>
                        <a:rPr lang="vi-VN" dirty="0"/>
                        <a:t>2021</a:t>
                      </a:r>
                      <a:endParaRPr lang="en-US" dirty="0"/>
                    </a:p>
                  </a:txBody>
                  <a:tcPr/>
                </a:tc>
                <a:tc>
                  <a:txBody>
                    <a:bodyPr/>
                    <a:lstStyle/>
                    <a:p>
                      <a:r>
                        <a:rPr lang="en-US" sz="1800" b="0" i="0" kern="1200" dirty="0">
                          <a:solidFill>
                            <a:schemeClr val="dk1"/>
                          </a:solidFill>
                          <a:effectLst/>
                          <a:latin typeface="+mn-lt"/>
                          <a:ea typeface="+mn-ea"/>
                          <a:cs typeface="+mn-cs"/>
                        </a:rPr>
                        <a:t>Joint UAV trajectory and power allocation optimization for NOMA in cognitive radio network</a:t>
                      </a:r>
                    </a:p>
                  </a:txBody>
                  <a:tcPr/>
                </a:tc>
                <a:extLst>
                  <a:ext uri="{0D108BD9-81ED-4DB2-BD59-A6C34878D82A}">
                    <a16:rowId xmlns:a16="http://schemas.microsoft.com/office/drawing/2014/main" val="4195476675"/>
                  </a:ext>
                </a:extLst>
              </a:tr>
              <a:tr h="370840">
                <a:tc>
                  <a:txBody>
                    <a:bodyPr/>
                    <a:lstStyle/>
                    <a:p>
                      <a:r>
                        <a:rPr lang="vi-VN" dirty="0"/>
                        <a:t>2</a:t>
                      </a:r>
                      <a:endParaRPr lang="en-US" dirty="0"/>
                    </a:p>
                  </a:txBody>
                  <a:tcPr/>
                </a:tc>
                <a:tc>
                  <a:txBody>
                    <a:bodyPr/>
                    <a:lstStyle/>
                    <a:p>
                      <a:r>
                        <a:rPr lang="en-US" sz="1800" b="0" i="0" kern="1200" dirty="0">
                          <a:solidFill>
                            <a:schemeClr val="dk1"/>
                          </a:solidFill>
                          <a:effectLst/>
                          <a:latin typeface="+mn-lt"/>
                          <a:ea typeface="+mn-ea"/>
                          <a:cs typeface="+mn-cs"/>
                        </a:rPr>
                        <a:t>IEEE TRANSACTIONS ON VEHICULAR TECHNOLOGY</a:t>
                      </a:r>
                      <a:r>
                        <a:rPr lang="en-US" dirty="0"/>
                        <a:t> </a:t>
                      </a:r>
                      <a:br>
                        <a:rPr lang="en-US" dirty="0"/>
                      </a:br>
                      <a:endParaRPr lang="en-US" dirty="0"/>
                    </a:p>
                  </a:txBody>
                  <a:tcPr/>
                </a:tc>
                <a:tc>
                  <a:txBody>
                    <a:bodyPr/>
                    <a:lstStyle/>
                    <a:p>
                      <a:r>
                        <a:rPr lang="vi-VN" dirty="0"/>
                        <a:t>2024</a:t>
                      </a:r>
                      <a:endParaRPr lang="en-US" dirty="0"/>
                    </a:p>
                  </a:txBody>
                  <a:tcPr/>
                </a:tc>
                <a:tc>
                  <a:txBody>
                    <a:bodyPr/>
                    <a:lstStyle/>
                    <a:p>
                      <a:r>
                        <a:rPr lang="en-US" sz="1800" b="0" i="0" kern="1200" dirty="0">
                          <a:solidFill>
                            <a:schemeClr val="dk1"/>
                          </a:solidFill>
                          <a:effectLst/>
                          <a:latin typeface="+mn-lt"/>
                          <a:ea typeface="+mn-ea"/>
                          <a:cs typeface="+mn-cs"/>
                        </a:rPr>
                        <a:t>Joint Trajectory Design and Power </a:t>
                      </a:r>
                      <a:r>
                        <a:rPr lang="vi-VN" sz="1800" b="0" i="0" kern="1200" dirty="0">
                          <a:solidFill>
                            <a:schemeClr val="dk1"/>
                          </a:solidFill>
                          <a:effectLst/>
                          <a:latin typeface="+mn-lt"/>
                          <a:ea typeface="+mn-ea"/>
                          <a:cs typeface="+mn-cs"/>
                        </a:rPr>
                        <a:t>Allocation</a:t>
                      </a:r>
                      <a:endParaRPr lang="en-US" sz="1800" b="0" i="0" kern="1200" dirty="0">
                        <a:solidFill>
                          <a:schemeClr val="dk1"/>
                        </a:solidFill>
                        <a:effectLst/>
                        <a:latin typeface="+mn-lt"/>
                        <a:ea typeface="+mn-ea"/>
                        <a:cs typeface="+mn-cs"/>
                      </a:endParaRPr>
                    </a:p>
                    <a:p>
                      <a:r>
                        <a:rPr lang="en-US" sz="1800" b="0" i="0" kern="1200" dirty="0">
                          <a:solidFill>
                            <a:schemeClr val="dk1"/>
                          </a:solidFill>
                          <a:effectLst/>
                          <a:latin typeface="+mn-lt"/>
                          <a:ea typeface="+mn-ea"/>
                          <a:cs typeface="+mn-cs"/>
                        </a:rPr>
                        <a:t>NOMA-Based UAV Networks</a:t>
                      </a:r>
                      <a:r>
                        <a:rPr lang="en-US" dirty="0"/>
                        <a:t> </a:t>
                      </a:r>
                      <a:br>
                        <a:rPr lang="en-US" dirty="0"/>
                      </a:br>
                      <a:endParaRPr lang="en-US" dirty="0"/>
                    </a:p>
                  </a:txBody>
                  <a:tcPr/>
                </a:tc>
                <a:extLst>
                  <a:ext uri="{0D108BD9-81ED-4DB2-BD59-A6C34878D82A}">
                    <a16:rowId xmlns:a16="http://schemas.microsoft.com/office/drawing/2014/main" val="764903528"/>
                  </a:ext>
                </a:extLst>
              </a:tr>
              <a:tr h="704364">
                <a:tc>
                  <a:txBody>
                    <a:bodyPr/>
                    <a:lstStyle/>
                    <a:p>
                      <a:r>
                        <a:rPr lang="vi-VN" dirty="0"/>
                        <a:t>3</a:t>
                      </a:r>
                      <a:endParaRPr lang="en-US" dirty="0"/>
                    </a:p>
                  </a:txBody>
                  <a:tcPr/>
                </a:tc>
                <a:tc>
                  <a:txBody>
                    <a:bodyPr/>
                    <a:lstStyle/>
                    <a:p>
                      <a:r>
                        <a:rPr lang="en-US" sz="1800" b="0" i="0" kern="1200" dirty="0">
                          <a:solidFill>
                            <a:schemeClr val="dk1"/>
                          </a:solidFill>
                          <a:effectLst/>
                          <a:latin typeface="+mn-lt"/>
                          <a:ea typeface="+mn-ea"/>
                          <a:cs typeface="+mn-cs"/>
                        </a:rPr>
                        <a:t>IEEE 10th World Forum on Internet of Things</a:t>
                      </a:r>
                      <a:r>
                        <a:rPr lang="en-US" dirty="0"/>
                        <a:t> </a:t>
                      </a:r>
                      <a:br>
                        <a:rPr lang="en-US" dirty="0"/>
                      </a:br>
                      <a:endParaRPr lang="en-US" dirty="0"/>
                    </a:p>
                  </a:txBody>
                  <a:tcPr/>
                </a:tc>
                <a:tc>
                  <a:txBody>
                    <a:bodyPr/>
                    <a:lstStyle/>
                    <a:p>
                      <a:r>
                        <a:rPr lang="vi-VN" dirty="0"/>
                        <a:t>2024</a:t>
                      </a:r>
                      <a:endParaRPr lang="en-US" dirty="0"/>
                    </a:p>
                  </a:txBody>
                  <a:tcPr/>
                </a:tc>
                <a:tc>
                  <a:txBody>
                    <a:bodyPr/>
                    <a:lstStyle/>
                    <a:p>
                      <a:r>
                        <a:rPr lang="en-US" sz="1800" b="0" i="0" kern="1200" dirty="0">
                          <a:solidFill>
                            <a:schemeClr val="dk1"/>
                          </a:solidFill>
                          <a:effectLst/>
                          <a:latin typeface="+mn-lt"/>
                          <a:ea typeface="+mn-ea"/>
                          <a:cs typeface="+mn-cs"/>
                        </a:rPr>
                        <a:t>UAV-Enabled Uplink in Massive IoT Networks with</a:t>
                      </a:r>
                    </a:p>
                    <a:p>
                      <a:r>
                        <a:rPr lang="en-US" sz="1800" b="0" i="0" kern="1200" dirty="0">
                          <a:solidFill>
                            <a:schemeClr val="dk1"/>
                          </a:solidFill>
                          <a:effectLst/>
                          <a:latin typeface="+mn-lt"/>
                          <a:ea typeface="+mn-ea"/>
                          <a:cs typeface="+mn-cs"/>
                        </a:rPr>
                        <a:t>Circular and Spiral Trajectory Designs</a:t>
                      </a:r>
                      <a:r>
                        <a:rPr lang="en-US" dirty="0"/>
                        <a:t> </a:t>
                      </a:r>
                      <a:br>
                        <a:rPr lang="en-US" dirty="0"/>
                      </a:br>
                      <a:endParaRPr lang="en-US" dirty="0"/>
                    </a:p>
                  </a:txBody>
                  <a:tcPr/>
                </a:tc>
                <a:extLst>
                  <a:ext uri="{0D108BD9-81ED-4DB2-BD59-A6C34878D82A}">
                    <a16:rowId xmlns:a16="http://schemas.microsoft.com/office/drawing/2014/main" val="4051716375"/>
                  </a:ext>
                </a:extLst>
              </a:tr>
              <a:tr h="370840">
                <a:tc>
                  <a:txBody>
                    <a:bodyPr/>
                    <a:lstStyle/>
                    <a:p>
                      <a:r>
                        <a:rPr lang="vi-VN" dirty="0"/>
                        <a:t>4</a:t>
                      </a:r>
                      <a:endParaRPr lang="en-US" dirty="0"/>
                    </a:p>
                  </a:txBody>
                  <a:tcPr/>
                </a:tc>
                <a:tc>
                  <a:txBody>
                    <a:bodyPr/>
                    <a:lstStyle/>
                    <a:p>
                      <a:r>
                        <a:rPr lang="en-US" b="0" dirty="0"/>
                        <a:t>IEEE Wireless Communications Letters </a:t>
                      </a:r>
                    </a:p>
                  </a:txBody>
                  <a:tcPr/>
                </a:tc>
                <a:tc>
                  <a:txBody>
                    <a:bodyPr/>
                    <a:lstStyle/>
                    <a:p>
                      <a:r>
                        <a:rPr lang="vi-VN" dirty="0"/>
                        <a:t>2018</a:t>
                      </a:r>
                      <a:endParaRPr lang="en-US" dirty="0"/>
                    </a:p>
                  </a:txBody>
                  <a:tcPr/>
                </a:tc>
                <a:tc>
                  <a:txBody>
                    <a:bodyPr/>
                    <a:lstStyle/>
                    <a:p>
                      <a:r>
                        <a:rPr lang="en-US" dirty="0"/>
                        <a:t>Cognitive UAV Communication via Joint Trajectory and Power Control</a:t>
                      </a:r>
                    </a:p>
                  </a:txBody>
                  <a:tcPr/>
                </a:tc>
                <a:extLst>
                  <a:ext uri="{0D108BD9-81ED-4DB2-BD59-A6C34878D82A}">
                    <a16:rowId xmlns:a16="http://schemas.microsoft.com/office/drawing/2014/main" val="2822623984"/>
                  </a:ext>
                </a:extLst>
              </a:tr>
            </a:tbl>
          </a:graphicData>
        </a:graphic>
      </p:graphicFrame>
    </p:spTree>
    <p:extLst>
      <p:ext uri="{BB962C8B-B14F-4D97-AF65-F5344CB8AC3E}">
        <p14:creationId xmlns:p14="http://schemas.microsoft.com/office/powerpoint/2010/main" val="42348469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1260</TotalTime>
  <Words>508</Words>
  <Application>Microsoft Office PowerPoint</Application>
  <PresentationFormat>Custom</PresentationFormat>
  <Paragraphs>94</Paragraphs>
  <Slides>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Cabin Bold</vt:lpstr>
      <vt:lpstr>Arial</vt:lpstr>
      <vt:lpstr>Canva Sans Bold</vt:lpstr>
      <vt:lpstr>Cambria Math</vt:lpstr>
      <vt:lpstr>Cabin</vt:lpstr>
      <vt:lpstr>Canva Sans</vt:lpstr>
      <vt:lpstr>Now Bold</vt:lpstr>
      <vt:lpstr>Arimo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Xử lý TH số</dc:title>
  <dc:creator>Tùng Mai</dc:creator>
  <cp:lastModifiedBy>Tùng Mai</cp:lastModifiedBy>
  <cp:revision>7</cp:revision>
  <dcterms:created xsi:type="dcterms:W3CDTF">2006-08-16T00:00:00Z</dcterms:created>
  <dcterms:modified xsi:type="dcterms:W3CDTF">2026-04-22T11:59:09Z</dcterms:modified>
  <dc:identifier>DAHG7_xfCdw</dc:identifier>
</cp:coreProperties>
</file>
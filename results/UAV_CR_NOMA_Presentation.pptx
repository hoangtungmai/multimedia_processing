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TỐI ƯU TRUYỀN VIDEO UAV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4688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2196F3"/>
                </a:solidFill>
              </a:defRPr>
            </a:pPr>
            <a:r>
              <a:t>TRÊN MẠNG CR-NOMA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B0B0B0"/>
                </a:solidFill>
              </a:defRPr>
            </a:pPr>
            <a:r>
              <a:t>Cross-layer Adaptive Video Encoding với BCD+SCA Trajectory Optimization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Môn: Xử lý ảnh và Truyền thông đa phương tiện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6692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0B0B0"/>
                </a:solidFill>
              </a:defRPr>
            </a:pPr>
            <a:r>
              <a:t>GVHD: ________________    |    SV: ________________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196F3"/>
                </a:solidFill>
              </a:defRPr>
            </a:pPr>
            <a:r>
              <a:t>01  BÀI TOÁN ĐẶT RA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5486400" cy="5029200"/>
          </a:xfrm>
          <a:prstGeom prst="roundRect">
            <a:avLst/>
          </a:prstGeom>
          <a:solidFill>
            <a:srgbClr val="25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196F3"/>
                </a:solidFill>
              </a:defRPr>
            </a:pPr>
            <a:r>
              <a:t>Bối cảnh</a:t>
            </a:r>
          </a:p>
          <a:p>
            <a:pPr>
              <a:spcBef>
                <a:spcPts val="600"/>
              </a:spcBef>
              <a:defRPr sz="1600" b="0">
                <a:solidFill>
                  <a:srgbClr val="FFFFFF"/>
                </a:solidFill>
              </a:defRPr>
            </a:pPr>
            <a:r>
              <a:t>• UAV bay từ A → B, vừa quay video vừa truyền về BS</a:t>
            </a:r>
          </a:p>
          <a:p>
            <a:pPr>
              <a:spcBef>
                <a:spcPts val="600"/>
              </a:spcBef>
              <a:defRPr sz="1600" b="0">
                <a:solidFill>
                  <a:srgbClr val="FFFFFF"/>
                </a:solidFill>
              </a:defRPr>
            </a:pPr>
            <a:r>
              <a:t>• Trên mặt đất có PU (Primary User) cùng tần số</a:t>
            </a:r>
          </a:p>
          <a:p>
            <a:pPr>
              <a:spcBef>
                <a:spcPts val="600"/>
              </a:spcBef>
              <a:defRPr sz="1600" b="0">
                <a:solidFill>
                  <a:srgbClr val="FFFFFF"/>
                </a:solidFill>
              </a:defRPr>
            </a:pPr>
            <a:r>
              <a:t>• UAV phải chia sẻ phổ mà không gây nhiễu cho PU</a:t>
            </a:r>
          </a:p>
          <a:p>
            <a:pPr>
              <a:spcBef>
                <a:spcPts val="600"/>
              </a:spcBef>
              <a:defRPr sz="1000" b="0">
                <a:solidFill>
                  <a:srgbClr val="FFFFFF"/>
                </a:solidFill>
              </a:defRPr>
            </a:pPr>
          </a:p>
          <a:p>
            <a:pPr>
              <a:spcBef>
                <a:spcPts val="600"/>
              </a:spcBef>
              <a:defRPr sz="2200" b="1">
                <a:solidFill>
                  <a:srgbClr val="FF5722"/>
                </a:solidFill>
              </a:defRPr>
            </a:pPr>
            <a:r>
              <a:t>Mục tiêu</a:t>
            </a:r>
          </a:p>
          <a:p>
            <a:pPr>
              <a:spcBef>
                <a:spcPts val="600"/>
              </a:spcBef>
              <a:defRPr sz="1600" b="0">
                <a:solidFill>
                  <a:srgbClr val="FFFFFF"/>
                </a:solidFill>
              </a:defRPr>
            </a:pPr>
            <a:r>
              <a:t>Tối đa chất lượng video (PSNR) với ràng buộc:</a:t>
            </a:r>
          </a:p>
          <a:p>
            <a:pPr>
              <a:spcBef>
                <a:spcPts val="600"/>
              </a:spcBef>
              <a:defRPr sz="1500" b="0">
                <a:solidFill>
                  <a:srgbClr val="B0B0B0"/>
                </a:solidFill>
              </a:defRPr>
            </a:pPr>
            <a:r>
              <a:t>  ✦ Tốc độ bay: Vmax = 15 m/s</a:t>
            </a:r>
          </a:p>
          <a:p>
            <a:pPr>
              <a:spcBef>
                <a:spcPts val="600"/>
              </a:spcBef>
              <a:defRPr sz="1500" b="0">
                <a:solidFill>
                  <a:srgbClr val="B0B0B0"/>
                </a:solidFill>
              </a:defRPr>
            </a:pPr>
            <a:r>
              <a:t>  ✦ Công suất phát: Pmax = 0.5 W</a:t>
            </a:r>
          </a:p>
          <a:p>
            <a:pPr>
              <a:spcBef>
                <a:spcPts val="600"/>
              </a:spcBef>
              <a:defRPr sz="1500" b="0">
                <a:solidFill>
                  <a:srgbClr val="B0B0B0"/>
                </a:solidFill>
              </a:defRPr>
            </a:pPr>
            <a:r>
              <a:t>  ✦ Nhiễu CR: I_th = 5×10⁻¹¹ W</a:t>
            </a:r>
          </a:p>
          <a:p>
            <a:pPr>
              <a:spcBef>
                <a:spcPts val="600"/>
              </a:spcBef>
              <a:defRPr sz="1500" b="0">
                <a:solidFill>
                  <a:srgbClr val="B0B0B0"/>
                </a:solidFill>
              </a:defRPr>
            </a:pPr>
            <a:r>
              <a:t>  ✦ QoS cho PU: R_PU,min = 0.5 bps/Hz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097280"/>
            <a:ext cx="5303520" cy="5029200"/>
          </a:xfrm>
          <a:prstGeom prst="roundRect">
            <a:avLst/>
          </a:prstGeom>
          <a:solidFill>
            <a:srgbClr val="25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0" y="12801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196F3"/>
                </a:solidFill>
              </a:defRPr>
            </a:pPr>
            <a:r>
              <a:t>Mô hình hệ thống</a:t>
            </a:r>
          </a:p>
        </p:txBody>
      </p:sp>
      <p:pic>
        <p:nvPicPr>
          <p:cNvPr id="7" name="Picture 6" descr="trajectories_all_ca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828800"/>
            <a:ext cx="493776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196F3"/>
                </a:solidFill>
              </a:defRPr>
            </a:pPr>
            <a:r>
              <a:t>02  QUY TRÌNH THỰC HIỆN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3474720" cy="5029200"/>
          </a:xfrm>
          <a:prstGeom prst="roundRect">
            <a:avLst/>
          </a:prstGeom>
          <a:solidFill>
            <a:srgbClr val="25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5722"/>
                </a:solidFill>
              </a:defRPr>
            </a:pPr>
            <a:r>
              <a:t>BƯỚC 1: Tối ưu quỹ đạo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3017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BCD+SCA Optimizer</a:t>
            </a:r>
          </a:p>
          <a:p>
            <a:pPr>
              <a:spcBef>
                <a:spcPts val="600"/>
              </a:spcBef>
              <a:defRPr sz="1400" b="0">
                <a:solidFill>
                  <a:srgbClr val="B0B0B0"/>
                </a:solidFill>
              </a:defRPr>
            </a:pPr>
            <a:r>
              <a:t>• Lặp 8 vòng BCD</a:t>
            </a:r>
          </a:p>
          <a:p>
            <a:pPr>
              <a:spcBef>
                <a:spcPts val="600"/>
              </a:spcBef>
              <a:defRPr sz="1400" b="0">
                <a:solidFill>
                  <a:srgbClr val="B0B0B0"/>
                </a:solidFill>
              </a:defRPr>
            </a:pPr>
            <a:r>
              <a:t>• ① Tối ưu công suất P(t)</a:t>
            </a:r>
          </a:p>
          <a:p>
            <a:pPr>
              <a:spcBef>
                <a:spcPts val="600"/>
              </a:spcBef>
              <a:defRPr sz="1400" b="0">
                <a:solidFill>
                  <a:srgbClr val="B0B0B0"/>
                </a:solidFill>
              </a:defRPr>
            </a:pPr>
            <a:r>
              <a:t>• ② Tối ưu quỹ đạo q(t) bằng SCA</a:t>
            </a:r>
          </a:p>
          <a:p>
            <a:pPr>
              <a:spcBef>
                <a:spcPts val="600"/>
              </a:spcBef>
              <a:defRPr sz="1400" b="0">
                <a:solidFill>
                  <a:srgbClr val="B0B0B0"/>
                </a:solidFill>
              </a:defRPr>
            </a:pPr>
            <a:r>
              <a:t>• Xấp xỉ Taylor bậc 1 + SLSQP</a:t>
            </a:r>
          </a:p>
          <a:p>
            <a:pPr>
              <a:spcBef>
                <a:spcPts val="600"/>
              </a:spcBef>
              <a:defRPr sz="800" b="0">
                <a:solidFill>
                  <a:srgbClr val="FFFFFF"/>
                </a:solidFill>
              </a:defRPr>
            </a:pPr>
          </a:p>
          <a:p>
            <a:pPr>
              <a:spcBef>
                <a:spcPts val="600"/>
              </a:spcBef>
              <a:defRPr sz="1400" b="0">
                <a:solidFill>
                  <a:srgbClr val="4CAF50"/>
                </a:solidFill>
              </a:defRPr>
            </a:pPr>
            <a:r>
              <a:t>→ Đầu ra: rates[30], trajectory, power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0" y="1188720"/>
            <a:ext cx="3474720" cy="5029200"/>
          </a:xfrm>
          <a:prstGeom prst="roundRect">
            <a:avLst/>
          </a:prstGeom>
          <a:solidFill>
            <a:srgbClr val="25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80560" y="13716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5722"/>
                </a:solidFill>
              </a:defRPr>
            </a:pPr>
            <a:r>
              <a:t>BƯỚC 2: Mã hóa video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1920240"/>
            <a:ext cx="3017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H.264 Encoder (FFmpeg)</a:t>
            </a:r>
          </a:p>
          <a:p>
            <a:pPr>
              <a:spcBef>
                <a:spcPts val="600"/>
              </a:spcBef>
              <a:defRPr sz="1400" b="0">
                <a:solidFill>
                  <a:srgbClr val="B0B0B0"/>
                </a:solidFill>
              </a:defRPr>
            </a:pPr>
            <a:r>
              <a:t>• Video: foreman_cif.yuv</a:t>
            </a:r>
          </a:p>
          <a:p>
            <a:pPr>
              <a:spcBef>
                <a:spcPts val="600"/>
              </a:spcBef>
              <a:defRPr sz="1400" b="0">
                <a:solidFill>
                  <a:srgbClr val="B0B0B0"/>
                </a:solidFill>
              </a:defRPr>
            </a:pPr>
            <a:r>
              <a:t>• 300 frames → 30 GOP × 10 frames</a:t>
            </a:r>
          </a:p>
          <a:p>
            <a:pPr>
              <a:spcBef>
                <a:spcPts val="600"/>
              </a:spcBef>
              <a:defRPr sz="1400" b="0">
                <a:solidFill>
                  <a:srgbClr val="B0B0B0"/>
                </a:solidFill>
              </a:defRPr>
            </a:pPr>
            <a:r>
              <a:t>• Adaptive QP: liên tục theo R(t)</a:t>
            </a:r>
          </a:p>
          <a:p>
            <a:pPr>
              <a:spcBef>
                <a:spcPts val="600"/>
              </a:spcBef>
              <a:defRPr sz="1400" b="0">
                <a:solidFill>
                  <a:srgbClr val="B0B0B0"/>
                </a:solidFill>
              </a:defRPr>
            </a:pPr>
            <a:r>
              <a:t>• SVC: BL (QP=35) + EL (QP=15)</a:t>
            </a:r>
          </a:p>
          <a:p>
            <a:pPr>
              <a:spcBef>
                <a:spcPts val="600"/>
              </a:spcBef>
              <a:defRPr sz="800" b="0">
                <a:solidFill>
                  <a:srgbClr val="FFFFFF"/>
                </a:solidFill>
              </a:defRPr>
            </a:pPr>
          </a:p>
          <a:p>
            <a:pPr>
              <a:spcBef>
                <a:spcPts val="600"/>
              </a:spcBef>
              <a:defRPr sz="1400" b="0">
                <a:solidFill>
                  <a:srgbClr val="4CAF50"/>
                </a:solidFill>
              </a:defRPr>
            </a:pPr>
            <a:r>
              <a:t>→ Đầu ra: .264 bitstream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79" y="1188720"/>
            <a:ext cx="3749039" cy="5029200"/>
          </a:xfrm>
          <a:prstGeom prst="roundRect">
            <a:avLst/>
          </a:prstGeom>
          <a:solidFill>
            <a:srgbClr val="25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3716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5722"/>
                </a:solidFill>
              </a:defRPr>
            </a:pPr>
            <a:r>
              <a:t>BƯỚC 3: Đánh giá PSNR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1920240"/>
            <a:ext cx="3291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Full-Reference Evaluation</a:t>
            </a:r>
          </a:p>
          <a:p>
            <a:pPr>
              <a:spcBef>
                <a:spcPts val="600"/>
              </a:spcBef>
              <a:defRPr sz="1400" b="0">
                <a:solidFill>
                  <a:srgbClr val="B0B0B0"/>
                </a:solidFill>
              </a:defRPr>
            </a:pPr>
            <a:r>
              <a:t>• Decode .264 → frames</a:t>
            </a:r>
          </a:p>
          <a:p>
            <a:pPr>
              <a:spcBef>
                <a:spcPts val="600"/>
              </a:spcBef>
              <a:defRPr sz="1400" b="0">
                <a:solidFill>
                  <a:srgbClr val="B0B0B0"/>
                </a:solidFill>
              </a:defRPr>
            </a:pPr>
            <a:r>
              <a:t>• So pixel-by-pixel với gốc</a:t>
            </a:r>
          </a:p>
          <a:p>
            <a:pPr>
              <a:spcBef>
                <a:spcPts val="600"/>
              </a:spcBef>
              <a:defRPr sz="1400" b="0">
                <a:solidFill>
                  <a:srgbClr val="B0B0B0"/>
                </a:solidFill>
              </a:defRPr>
            </a:pPr>
            <a:r>
              <a:t>• PSNR = 20·log₁₀(255/√MSE)</a:t>
            </a:r>
          </a:p>
          <a:p>
            <a:pPr>
              <a:spcBef>
                <a:spcPts val="600"/>
              </a:spcBef>
              <a:defRPr sz="1400" b="0">
                <a:solidFill>
                  <a:srgbClr val="B0B0B0"/>
                </a:solidFill>
              </a:defRPr>
            </a:pPr>
            <a:r>
              <a:t>• 5 phương pháp × 5 cấu hình</a:t>
            </a:r>
          </a:p>
          <a:p>
            <a:pPr>
              <a:spcBef>
                <a:spcPts val="600"/>
              </a:spcBef>
              <a:defRPr sz="800" b="0">
                <a:solidFill>
                  <a:srgbClr val="FFFFFF"/>
                </a:solidFill>
              </a:defRPr>
            </a:pPr>
          </a:p>
          <a:p>
            <a:pPr>
              <a:spcBef>
                <a:spcPts val="600"/>
              </a:spcBef>
              <a:defRPr sz="1400" b="0">
                <a:solidFill>
                  <a:srgbClr val="4CAF50"/>
                </a:solidFill>
              </a:defRPr>
            </a:pPr>
            <a:r>
              <a:t>→ Đầu ra: biểu đồ so sánh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196F3"/>
                </a:solidFill>
              </a:defRPr>
            </a:pPr>
            <a:r>
              <a:t>03  CROSS-LAYER DESIGN: Adaptive QP vs SVC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5303520" cy="5029200"/>
          </a:xfrm>
          <a:prstGeom prst="roundRect">
            <a:avLst/>
          </a:prstGeom>
          <a:solidFill>
            <a:srgbClr val="25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CAF50"/>
                </a:solidFill>
              </a:defRPr>
            </a:pPr>
            <a:r>
              <a:t>✦ ADAPTIVE QP (Đề xuất)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Ánh xạ Cross-layer: QP = 32 − (R−2.0) × 11</a:t>
            </a:r>
          </a:p>
          <a:p>
            <a:pPr>
              <a:spcBef>
                <a:spcPts val="600"/>
              </a:spcBef>
              <a:defRPr sz="600" b="0">
                <a:solidFill>
                  <a:srgbClr val="FFFFFF"/>
                </a:solidFill>
              </a:defRPr>
            </a:pPr>
          </a:p>
          <a:p>
            <a:pPr>
              <a:spcBef>
                <a:spcPts val="600"/>
              </a:spcBef>
              <a:defRPr sz="1400" b="0">
                <a:solidFill>
                  <a:srgbClr val="B0B0B0"/>
                </a:solidFill>
              </a:defRPr>
            </a:pPr>
            <a:r>
              <a:t>R(t) = 2.0 bps/Hz  →  QP = 32  →  Mờ</a:t>
            </a:r>
          </a:p>
          <a:p>
            <a:pPr>
              <a:spcBef>
                <a:spcPts val="600"/>
              </a:spcBef>
              <a:defRPr sz="1400" b="0">
                <a:solidFill>
                  <a:srgbClr val="B0B0B0"/>
                </a:solidFill>
              </a:defRPr>
            </a:pPr>
            <a:r>
              <a:t>R(t) = 2.5 bps/Hz  →  QP = 27  →  Trung bình</a:t>
            </a:r>
          </a:p>
          <a:p>
            <a:pPr>
              <a:spcBef>
                <a:spcPts val="600"/>
              </a:spcBef>
              <a:defRPr sz="1400" b="0">
                <a:solidFill>
                  <a:srgbClr val="B0B0B0"/>
                </a:solidFill>
              </a:defRPr>
            </a:pPr>
            <a:r>
              <a:t>R(t) = 3.0 bps/Hz  →  QP = 21  →  Khá tốt</a:t>
            </a:r>
          </a:p>
          <a:p>
            <a:pPr>
              <a:spcBef>
                <a:spcPts val="600"/>
              </a:spcBef>
              <a:defRPr sz="1400" b="0">
                <a:solidFill>
                  <a:srgbClr val="B0B0B0"/>
                </a:solidFill>
              </a:defRPr>
            </a:pPr>
            <a:r>
              <a:t>R(t) = 3.5 bps/Hz  →  QP = 16  →  Rất nét</a:t>
            </a:r>
          </a:p>
          <a:p>
            <a:pPr>
              <a:spcBef>
                <a:spcPts val="600"/>
              </a:spcBef>
              <a:defRPr sz="1400" b="0">
                <a:solidFill>
                  <a:srgbClr val="B0B0B0"/>
                </a:solidFill>
              </a:defRPr>
            </a:pPr>
            <a:r>
              <a:t>R(t) = 4.0 bps/Hz  →  QP = 10  →  Gần lossless</a:t>
            </a:r>
          </a:p>
          <a:p>
            <a:pPr>
              <a:spcBef>
                <a:spcPts val="600"/>
              </a:spcBef>
              <a:defRPr sz="800" b="0">
                <a:solidFill>
                  <a:srgbClr val="FFFFFF"/>
                </a:solidFill>
              </a:defRPr>
            </a:pPr>
          </a:p>
          <a:p>
            <a:pPr>
              <a:spcBef>
                <a:spcPts val="600"/>
              </a:spcBef>
              <a:defRPr sz="1500" b="0">
                <a:solidFill>
                  <a:srgbClr val="4CAF50"/>
                </a:solidFill>
              </a:defRPr>
            </a:pPr>
            <a:r>
              <a:t>✅ Ưu điểm: Tận dụng tối đa mỗi bps/Hz</a:t>
            </a:r>
          </a:p>
          <a:p>
            <a:pPr>
              <a:spcBef>
                <a:spcPts val="600"/>
              </a:spcBef>
              <a:defRPr sz="1500" b="0">
                <a:solidFill>
                  <a:srgbClr val="4CAF50"/>
                </a:solidFill>
              </a:defRPr>
            </a:pPr>
            <a:r>
              <a:t>✅ QP thay đổi liên tục → chất lượng liên tục</a:t>
            </a:r>
          </a:p>
          <a:p>
            <a:pPr>
              <a:spcBef>
                <a:spcPts val="600"/>
              </a:spcBef>
              <a:defRPr sz="1500" b="0">
                <a:solidFill>
                  <a:srgbClr val="FF5722"/>
                </a:solidFill>
              </a:defRPr>
            </a:pPr>
            <a:r>
              <a:t>❌ Nhược: Không chống mất gói, cần CSI chính xác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188720"/>
            <a:ext cx="5577840" cy="5029200"/>
          </a:xfrm>
          <a:prstGeom prst="roundRect">
            <a:avLst/>
          </a:prstGeom>
          <a:solidFill>
            <a:srgbClr val="25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9C27B0"/>
                </a:solidFill>
              </a:defRPr>
            </a:pPr>
            <a:r>
              <a:t>✦ SVC (Truyền thống)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01168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2 lớp cố định: BL (QP=35) + EL (QP=15)</a:t>
            </a:r>
          </a:p>
          <a:p>
            <a:pPr>
              <a:spcBef>
                <a:spcPts val="600"/>
              </a:spcBef>
              <a:defRPr sz="600" b="0">
                <a:solidFill>
                  <a:srgbClr val="FFFFFF"/>
                </a:solidFill>
              </a:defRPr>
            </a:pPr>
          </a:p>
          <a:p>
            <a:pPr>
              <a:spcBef>
                <a:spcPts val="600"/>
              </a:spcBef>
              <a:defRPr sz="1400" b="0">
                <a:solidFill>
                  <a:srgbClr val="B0B0B0"/>
                </a:solidFill>
              </a:defRPr>
            </a:pPr>
            <a:r>
              <a:t>R(t) ≥ 3.0 → Dùng EL (QP=15, nét)</a:t>
            </a:r>
          </a:p>
          <a:p>
            <a:pPr>
              <a:spcBef>
                <a:spcPts val="600"/>
              </a:spcBef>
              <a:defRPr sz="1400" b="0">
                <a:solidFill>
                  <a:srgbClr val="B0B0B0"/>
                </a:solidFill>
              </a:defRPr>
            </a:pPr>
            <a:r>
              <a:t>R(t) ≥ 2.0 → Dùng BL (QP=35, mờ)</a:t>
            </a:r>
          </a:p>
          <a:p>
            <a:pPr>
              <a:spcBef>
                <a:spcPts val="600"/>
              </a:spcBef>
              <a:defRPr sz="1400" b="0">
                <a:solidFill>
                  <a:srgbClr val="B0B0B0"/>
                </a:solidFill>
              </a:defRPr>
            </a:pPr>
            <a:r>
              <a:t>R(t) &lt; 2.0 → Freeze frame trước</a:t>
            </a:r>
          </a:p>
          <a:p>
            <a:pPr>
              <a:spcBef>
                <a:spcPts val="600"/>
              </a:spcBef>
              <a:defRPr sz="800" b="0">
                <a:solidFill>
                  <a:srgbClr val="FFFFFF"/>
                </a:solidFill>
              </a:defRPr>
            </a:pPr>
          </a:p>
          <a:p>
            <a:pPr>
              <a:spcBef>
                <a:spcPts val="600"/>
              </a:spcBef>
              <a:defRPr sz="1600" b="1">
                <a:solidFill>
                  <a:srgbClr val="FFFFFF"/>
                </a:solidFill>
              </a:defRPr>
            </a:pPr>
            <a:r>
              <a:t>Ví dụ: Khi R(t) = 2.8 bps/Hz</a:t>
            </a:r>
          </a:p>
          <a:p>
            <a:pPr>
              <a:spcBef>
                <a:spcPts val="600"/>
              </a:spcBef>
              <a:defRPr sz="1400" b="0">
                <a:solidFill>
                  <a:srgbClr val="4CAF50"/>
                </a:solidFill>
              </a:defRPr>
            </a:pPr>
            <a:r>
              <a:t>• Adaptive QP: QP=23, PSNR ~38 dB</a:t>
            </a:r>
          </a:p>
          <a:p>
            <a:pPr>
              <a:spcBef>
                <a:spcPts val="600"/>
              </a:spcBef>
              <a:defRPr sz="1400" b="0">
                <a:solidFill>
                  <a:srgbClr val="9C27B0"/>
                </a:solidFill>
              </a:defRPr>
            </a:pPr>
            <a:r>
              <a:t>• SVC: chỉ BL (QP=35), PSNR ~28 dB</a:t>
            </a:r>
          </a:p>
          <a:p>
            <a:pPr>
              <a:spcBef>
                <a:spcPts val="600"/>
              </a:spcBef>
              <a:defRPr sz="1400" b="0">
                <a:solidFill>
                  <a:srgbClr val="FF5722"/>
                </a:solidFill>
              </a:defRPr>
            </a:pPr>
            <a:r>
              <a:t>→ Lãng phí 0.8 bps/Hz!</a:t>
            </a:r>
          </a:p>
          <a:p>
            <a:pPr>
              <a:spcBef>
                <a:spcPts val="600"/>
              </a:spcBef>
              <a:defRPr sz="800" b="0">
                <a:solidFill>
                  <a:srgbClr val="FFFFFF"/>
                </a:solidFill>
              </a:defRPr>
            </a:pPr>
          </a:p>
          <a:p>
            <a:pPr>
              <a:spcBef>
                <a:spcPts val="600"/>
              </a:spcBef>
              <a:defRPr sz="1500" b="0">
                <a:solidFill>
                  <a:srgbClr val="4CAF50"/>
                </a:solidFill>
              </a:defRPr>
            </a:pPr>
            <a:r>
              <a:t>✅ Ưu: Chống mất gói, hỗ trợ multicast</a:t>
            </a:r>
          </a:p>
          <a:p>
            <a:pPr>
              <a:spcBef>
                <a:spcPts val="600"/>
              </a:spcBef>
              <a:defRPr sz="1500" b="0">
                <a:solidFill>
                  <a:srgbClr val="FF5722"/>
                </a:solidFill>
              </a:defRPr>
            </a:pPr>
            <a:r>
              <a:t>❌ Nhược: Chất lượng rời rạc (bậc thang)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196F3"/>
                </a:solidFill>
              </a:defRPr>
            </a:pPr>
            <a:r>
              <a:t>04  HÀM MỤC TIÊU QoE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5486400" cy="2286000"/>
          </a:xfrm>
          <a:prstGeom prst="roundRect">
            <a:avLst/>
          </a:prstGeom>
          <a:solidFill>
            <a:srgbClr val="25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196F3"/>
                </a:solidFill>
              </a:defRPr>
            </a:pPr>
            <a:r>
              <a:t>Sigmoid QoE (cho SVC)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QoE = 0.6/(1+e^(-5(R-2.0))) + 0.4/(1+e^(-5(R-3.0)))</a:t>
            </a:r>
          </a:p>
          <a:p>
            <a:pPr>
              <a:spcBef>
                <a:spcPts val="600"/>
              </a:spcBef>
              <a:defRPr sz="1400" b="0">
                <a:solidFill>
                  <a:srgbClr val="B0B0B0"/>
                </a:solidFill>
              </a:defRPr>
            </a:pPr>
            <a:r>
              <a:t>Hai ngưỡng: R_BL=2.0 và R_BL+R_EL=3.0</a:t>
            </a:r>
          </a:p>
          <a:p>
            <a:pPr>
              <a:spcBef>
                <a:spcPts val="600"/>
              </a:spcBef>
              <a:defRPr sz="1400" b="0">
                <a:solidFill>
                  <a:srgbClr val="B0B0B0"/>
                </a:solidFill>
              </a:defRPr>
            </a:pPr>
            <a:r>
              <a:t>Bão hòa khi vượt ngưỡng → không khuyến khích tăng thêm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840480"/>
            <a:ext cx="5486400" cy="2286000"/>
          </a:xfrm>
          <a:prstGeom prst="roundRect">
            <a:avLst/>
          </a:prstGeom>
          <a:solidFill>
            <a:srgbClr val="25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40233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5722"/>
                </a:solidFill>
              </a:defRPr>
            </a:pPr>
            <a:r>
              <a:t>Logarithmic QoE (cho Adaptive QP)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57200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QoE = log₂(1 + R)</a:t>
            </a:r>
          </a:p>
          <a:p>
            <a:pPr>
              <a:spcBef>
                <a:spcPts val="600"/>
              </a:spcBef>
              <a:defRPr sz="1400" b="0">
                <a:solidFill>
                  <a:srgbClr val="B0B0B0"/>
                </a:solidFill>
              </a:defRPr>
            </a:pPr>
            <a:r>
              <a:t>Luôn tăng khi Rate tăng, không bão hòa</a:t>
            </a:r>
          </a:p>
          <a:p>
            <a:pPr>
              <a:spcBef>
                <a:spcPts val="600"/>
              </a:spcBef>
              <a:defRPr sz="1400" b="0">
                <a:solidFill>
                  <a:srgbClr val="B0B0B0"/>
                </a:solidFill>
              </a:defRPr>
            </a:pPr>
            <a:r>
              <a:t>Mỗi bps/Hz thêm đều có giá trị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188720"/>
            <a:ext cx="5303520" cy="4937760"/>
          </a:xfrm>
          <a:prstGeom prst="roundRect">
            <a:avLst/>
          </a:prstGeom>
          <a:solidFill>
            <a:srgbClr val="25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13716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CAF50"/>
                </a:solidFill>
              </a:defRPr>
            </a:pPr>
            <a:r>
              <a:t>BCD Convergence</a:t>
            </a:r>
          </a:p>
        </p:txBody>
      </p:sp>
      <p:pic>
        <p:nvPicPr>
          <p:cNvPr id="11" name="Picture 10" descr="bcd_converg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920240"/>
            <a:ext cx="5120640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196F3"/>
                </a:solidFill>
              </a:defRPr>
            </a:pPr>
            <a:r>
              <a:t>05  KẾT QUẢ PSNR</a:t>
            </a:r>
          </a:p>
        </p:txBody>
      </p:sp>
      <p:pic>
        <p:nvPicPr>
          <p:cNvPr id="3" name="Picture 2" descr="psnr_summary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5943600" cy="50292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6400800" y="1097280"/>
            <a:ext cx="5303520" cy="5029200"/>
          </a:xfrm>
          <a:prstGeom prst="roundRect">
            <a:avLst/>
          </a:prstGeom>
          <a:solidFill>
            <a:srgbClr val="25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675120" y="12801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196F3"/>
                </a:solidFill>
              </a:defRPr>
            </a:pPr>
            <a:r>
              <a:t>Bảng kết quả (dB)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0" y="182880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</a:p>
          <a:p>
            <a:pPr>
              <a:spcBef>
                <a:spcPts val="400"/>
              </a:spcBef>
              <a:defRPr sz="1200" b="1">
                <a:solidFill>
                  <a:srgbClr val="2196F3"/>
                </a:solidFill>
              </a:defRPr>
            </a:pPr>
            <a:r>
              <a:t>Case        Sigmoid     LogQoE      SVC         Straight  </a:t>
            </a:r>
          </a:p>
          <a:p>
            <a:pPr>
              <a:spcBef>
                <a:spcPts val="400"/>
              </a:spcBef>
              <a:defRPr sz="1200" b="0">
                <a:solidFill>
                  <a:srgbClr val="FFFFFF"/>
                </a:solidFill>
              </a:defRPr>
            </a:pPr>
            <a:r>
              <a:t>Case1       37.87       37.97       35.28       28.76     </a:t>
            </a:r>
          </a:p>
          <a:p>
            <a:pPr>
              <a:spcBef>
                <a:spcPts val="400"/>
              </a:spcBef>
              <a:defRPr sz="1200" b="0">
                <a:solidFill>
                  <a:srgbClr val="FFFFFF"/>
                </a:solidFill>
              </a:defRPr>
            </a:pPr>
            <a:r>
              <a:t>Case2       37.90       37.97       35.57       28.76     </a:t>
            </a:r>
          </a:p>
          <a:p>
            <a:pPr>
              <a:spcBef>
                <a:spcPts val="400"/>
              </a:spcBef>
              <a:defRPr sz="1200" b="0">
                <a:solidFill>
                  <a:srgbClr val="FFFFFF"/>
                </a:solidFill>
              </a:defRPr>
            </a:pPr>
            <a:r>
              <a:t>Case3       33.59       33.59       27.54       27.16     </a:t>
            </a:r>
          </a:p>
          <a:p>
            <a:pPr>
              <a:spcBef>
                <a:spcPts val="400"/>
              </a:spcBef>
              <a:defRPr sz="1200" b="0">
                <a:solidFill>
                  <a:srgbClr val="FFFFFF"/>
                </a:solidFill>
              </a:defRPr>
            </a:pPr>
            <a:r>
              <a:t>Case4       41.09       41.16       38.95       29.97     </a:t>
            </a:r>
          </a:p>
          <a:p>
            <a:pPr>
              <a:spcBef>
                <a:spcPts val="400"/>
              </a:spcBef>
              <a:defRPr sz="1200" b="0">
                <a:solidFill>
                  <a:srgbClr val="FFFFFF"/>
                </a:solidFill>
              </a:defRPr>
            </a:pPr>
            <a:r>
              <a:t>Case5       38.97       39.04       33.44       28.76     </a:t>
            </a:r>
          </a:p>
          <a:p>
            <a:pPr>
              <a:spcBef>
                <a:spcPts val="600"/>
              </a:spcBef>
              <a:defRPr sz="1000" b="0">
                <a:solidFill>
                  <a:srgbClr val="FFFFFF"/>
                </a:solidFill>
              </a:defRPr>
            </a:pPr>
          </a:p>
          <a:p>
            <a:pPr>
              <a:spcBef>
                <a:spcPts val="600"/>
              </a:spcBef>
              <a:defRPr sz="1400" b="1">
                <a:solidFill>
                  <a:srgbClr val="4CAF50"/>
                </a:solidFill>
              </a:defRPr>
            </a:pPr>
            <a:r>
              <a:t>✦ BCD+SCA: +6 đến +11 dB vs Straight</a:t>
            </a:r>
          </a:p>
          <a:p>
            <a:pPr>
              <a:spcBef>
                <a:spcPts val="600"/>
              </a:spcBef>
              <a:defRPr sz="1400" b="1">
                <a:solidFill>
                  <a:srgbClr val="4CAF50"/>
                </a:solidFill>
              </a:defRPr>
            </a:pPr>
            <a:r>
              <a:t>✦ Adaptive QP ≥ SVC trong mọi case</a:t>
            </a:r>
          </a:p>
          <a:p>
            <a:pPr>
              <a:spcBef>
                <a:spcPts val="600"/>
              </a:spcBef>
              <a:defRPr sz="1400" b="1">
                <a:solidFill>
                  <a:srgbClr val="FF5722"/>
                </a:solidFill>
              </a:defRPr>
            </a:pPr>
            <a:r>
              <a:t>✦ Log QoE ≈ Sigmoid (sau fix R_EL)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196F3"/>
                </a:solidFill>
              </a:defRPr>
            </a:pPr>
            <a:r>
              <a:t>06  SO SÁNH TỔNG HỢP</a:t>
            </a:r>
          </a:p>
        </p:txBody>
      </p:sp>
      <p:pic>
        <p:nvPicPr>
          <p:cNvPr id="3" name="Picture 2" descr="comprehensive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11612880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196F3"/>
                </a:solidFill>
              </a:defRPr>
            </a:pPr>
            <a:r>
              <a:t>07  PHÂN TÍCH SVC vs ADAPTIVE QP</a:t>
            </a:r>
          </a:p>
        </p:txBody>
      </p:sp>
      <p:pic>
        <p:nvPicPr>
          <p:cNvPr id="3" name="Picture 2" descr="svc_optimal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5760720" cy="5029200"/>
          </a:xfrm>
          <a:prstGeom prst="rect">
            <a:avLst/>
          </a:prstGeom>
        </p:spPr>
      </p:pic>
      <p:pic>
        <p:nvPicPr>
          <p:cNvPr id="4" name="Picture 3" descr="svc_vs_adaptive_detai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914400"/>
            <a:ext cx="566928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196F3"/>
                </a:solidFill>
              </a:defRPr>
            </a:pPr>
            <a:r>
              <a:t>08  KẾT LUẬN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5486400" cy="2011680"/>
          </a:xfrm>
          <a:prstGeom prst="roundRect">
            <a:avLst/>
          </a:prstGeom>
          <a:solidFill>
            <a:srgbClr val="25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CAF50"/>
                </a:solidFill>
              </a:defRPr>
            </a:pPr>
            <a:r>
              <a:t>① Tối ưu quỹ đạo là yếu tố then chốt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5029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</a:defRPr>
            </a:pPr>
            <a:r>
              <a:t>BCD+SCA mang lại +6 đến +11 dB so với baseline.</a:t>
            </a:r>
          </a:p>
          <a:p>
            <a:pPr>
              <a:spcBef>
                <a:spcPts val="600"/>
              </a:spcBef>
              <a:defRPr sz="1400" b="0">
                <a:solidFill>
                  <a:srgbClr val="B0B0B0"/>
                </a:solidFill>
              </a:defRPr>
            </a:pPr>
            <a:r>
              <a:t>Quỹ đạo thông minh né PU, bám BS → Rate cao → Video nét.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474720"/>
            <a:ext cx="5486400" cy="2011680"/>
          </a:xfrm>
          <a:prstGeom prst="roundRect">
            <a:avLst/>
          </a:prstGeom>
          <a:solidFill>
            <a:srgbClr val="25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566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5722"/>
                </a:solidFill>
              </a:defRPr>
            </a:pPr>
            <a:r>
              <a:t>② Cross-layer Adaptive QP vượt trội SVC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023360"/>
            <a:ext cx="5029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</a:defRPr>
            </a:pPr>
            <a:r>
              <a:t>Adaptive QP tận dụng liên tục từng bps/Hz.</a:t>
            </a:r>
          </a:p>
          <a:p>
            <a:pPr>
              <a:spcBef>
                <a:spcPts val="600"/>
              </a:spcBef>
              <a:defRPr sz="1400" b="0">
                <a:solidFill>
                  <a:srgbClr val="B0B0B0"/>
                </a:solidFill>
              </a:defRPr>
            </a:pPr>
            <a:r>
              <a:t>SVC lãng phí băng thông ở vùng giữa các ngưỡng.</a:t>
            </a:r>
          </a:p>
          <a:p>
            <a:pPr>
              <a:spcBef>
                <a:spcPts val="600"/>
              </a:spcBef>
              <a:defRPr sz="1400" b="0">
                <a:solidFill>
                  <a:srgbClr val="B0B0B0"/>
                </a:solidFill>
              </a:defRPr>
            </a:pPr>
            <a:r>
              <a:t>Kênh xấu (Case 3): Adaptive QP vượt SVC +6.05 dB.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188720"/>
            <a:ext cx="5303520" cy="2011680"/>
          </a:xfrm>
          <a:prstGeom prst="roundRect">
            <a:avLst/>
          </a:prstGeom>
          <a:solidFill>
            <a:srgbClr val="25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12801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9C27B0"/>
                </a:solidFill>
              </a:defRPr>
            </a:pPr>
            <a:r>
              <a:t>③ Hàm QoE ảnh hưởng đến quỹ đạo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1737360"/>
            <a:ext cx="4754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</a:defRPr>
            </a:pPr>
            <a:r>
              <a:t>Sigmoid QoE → quỹ đạo an toàn, cân bằng nhiệm vụ.</a:t>
            </a:r>
          </a:p>
          <a:p>
            <a:pPr>
              <a:spcBef>
                <a:spcPts val="600"/>
              </a:spcBef>
              <a:defRPr sz="1400" b="0">
                <a:solidFill>
                  <a:srgbClr val="B0B0B0"/>
                </a:solidFill>
              </a:defRPr>
            </a:pPr>
            <a:r>
              <a:t>Log QoE → quỹ đạo bám sát BS, tối đa video.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3474720"/>
            <a:ext cx="5303520" cy="2011680"/>
          </a:xfrm>
          <a:prstGeom prst="roundRect">
            <a:avLst/>
          </a:prstGeom>
          <a:solidFill>
            <a:srgbClr val="25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35661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④ Hướng phát triển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4023360"/>
            <a:ext cx="4754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B0"/>
                </a:solidFill>
              </a:defRPr>
            </a:pPr>
            <a:r>
              <a:t>• Thêm SSIM/VMAF cho đánh giá cảm nhận</a:t>
            </a:r>
          </a:p>
          <a:p>
            <a:pPr>
              <a:spcBef>
                <a:spcPts val="600"/>
              </a:spcBef>
              <a:defRPr sz="1400" b="0">
                <a:solidFill>
                  <a:srgbClr val="B0B0B0"/>
                </a:solidFill>
              </a:defRPr>
            </a:pPr>
            <a:r>
              <a:t>• Mô phỏng kênh Rician fading</a:t>
            </a:r>
          </a:p>
          <a:p>
            <a:pPr>
              <a:spcBef>
                <a:spcPts val="600"/>
              </a:spcBef>
              <a:defRPr sz="1400" b="0">
                <a:solidFill>
                  <a:srgbClr val="B0B0B0"/>
                </a:solidFill>
              </a:defRPr>
            </a:pPr>
            <a:r>
              <a:t>• Mở rộng multicast (1 UAV → nhiều BS)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CẢM ƠN THẦY/CÔ ĐÃ LẮNG NGHE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2196F3"/>
                </a:solidFill>
              </a:defRPr>
            </a:pPr>
            <a:r>
              <a:t>Q &amp; 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